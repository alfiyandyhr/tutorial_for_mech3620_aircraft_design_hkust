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9"/>
    <p:restoredTop sz="94733"/>
  </p:normalViewPr>
  <p:slideViewPr>
    <p:cSldViewPr snapToGrid="0">
      <p:cViewPr varScale="1">
        <p:scale>
          <a:sx n="114" d="100"/>
          <a:sy n="114" d="100"/>
        </p:scale>
        <p:origin x="9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2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0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7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1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7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6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3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9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9/10/26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3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61" r:id="rId6"/>
    <p:sldLayoutId id="2147484056" r:id="rId7"/>
    <p:sldLayoutId id="2147484057" r:id="rId8"/>
    <p:sldLayoutId id="2147484058" r:id="rId9"/>
    <p:sldLayoutId id="2147484060" r:id="rId10"/>
    <p:sldLayoutId id="214748405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lfiyandyhr.github.io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fr.gov/current/title-14/chapter-I/subchapter-C/part-2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7/S0001924000091983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A1882-D684-E81F-5E0C-6648A8679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6600" dirty="0"/>
              <a:t>Course Project Briefing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A2BD7-5CC6-7203-D968-3B33F33E8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101046"/>
          </a:xfrm>
        </p:spPr>
        <p:txBody>
          <a:bodyPr anchor="t">
            <a:normAutofit/>
          </a:bodyPr>
          <a:lstStyle/>
          <a:p>
            <a:r>
              <a:rPr lang="en-US" dirty="0"/>
              <a:t>Mech 3620 – aircraft design</a:t>
            </a:r>
          </a:p>
          <a:p>
            <a:r>
              <a:rPr lang="en-US" dirty="0"/>
              <a:t>HKUST, Spring 2026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6" descr="airplane, plane PNG">
            <a:extLst>
              <a:ext uri="{FF2B5EF4-FFF2-40B4-BE49-F238E27FC236}">
                <a16:creationId xmlns:a16="http://schemas.microsoft.com/office/drawing/2014/main" id="{4E1680E4-D72B-8754-1E7F-EA87D2EE3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826" y="784034"/>
            <a:ext cx="8755751" cy="264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00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8"/>
            <a:ext cx="10449784" cy="1071067"/>
          </a:xfrm>
        </p:spPr>
        <p:txBody>
          <a:bodyPr>
            <a:normAutofit/>
          </a:bodyPr>
          <a:lstStyle/>
          <a:p>
            <a:r>
              <a:rPr lang="en-US" dirty="0"/>
              <a:t>About me – </a:t>
            </a:r>
            <a:r>
              <a:rPr lang="en-US" dirty="0" err="1"/>
              <a:t>Alfi</a:t>
            </a:r>
            <a:br>
              <a:rPr lang="en-US" dirty="0"/>
            </a:br>
            <a:r>
              <a:rPr lang="en-US" sz="2000" dirty="0"/>
              <a:t>(3</a:t>
            </a:r>
            <a:r>
              <a:rPr lang="en-US" sz="2000" baseline="30000" dirty="0"/>
              <a:t>rd </a:t>
            </a:r>
            <a:r>
              <a:rPr lang="en-US" sz="2000" dirty="0"/>
              <a:t>year PhD student)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A9C-5BC1-EE35-8D6B-E5F6B60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114" y="1607634"/>
            <a:ext cx="9112741" cy="46167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Education</a:t>
            </a:r>
          </a:p>
          <a:p>
            <a:r>
              <a:rPr lang="en-US" b="1" dirty="0"/>
              <a:t>2024 – now: </a:t>
            </a:r>
            <a:r>
              <a:rPr lang="en-US" dirty="0"/>
              <a:t>Ph.D. in Mechanical Engineering, HKUST, Hong Kong SAR</a:t>
            </a:r>
          </a:p>
          <a:p>
            <a:r>
              <a:rPr lang="en-US" b="1" dirty="0"/>
              <a:t>2021 – 2023: </a:t>
            </a:r>
            <a:r>
              <a:rPr lang="en-US" dirty="0"/>
              <a:t>M.Eng. in Aerospace Engineering, Tohoku University, Japan</a:t>
            </a:r>
            <a:endParaRPr lang="en-US" b="1" dirty="0"/>
          </a:p>
          <a:p>
            <a:r>
              <a:rPr lang="en-US" b="1" dirty="0"/>
              <a:t>2017 – 2021: </a:t>
            </a:r>
            <a:r>
              <a:rPr lang="en-US" dirty="0"/>
              <a:t>B.Eng. in Mechanical and Aerospace Engineering, Tohoku University, Japan.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Experience</a:t>
            </a:r>
          </a:p>
          <a:p>
            <a:r>
              <a:rPr lang="en-US" b="1" dirty="0"/>
              <a:t>2023 – 2024: </a:t>
            </a:r>
            <a:r>
              <a:rPr lang="en-US" dirty="0"/>
              <a:t>Structural Analysis Engineer (full-time), PT. Turkish Aerospace Indonesia, Bandung, Indonesia</a:t>
            </a:r>
            <a:endParaRPr lang="en-US" b="1" dirty="0"/>
          </a:p>
          <a:p>
            <a:r>
              <a:rPr lang="en-US" b="1" dirty="0"/>
              <a:t>2022 – 2023: </a:t>
            </a:r>
            <a:r>
              <a:rPr lang="en-US" dirty="0"/>
              <a:t>Aerodynamics Engineer (part-time), </a:t>
            </a:r>
            <a:r>
              <a:rPr lang="en-US" dirty="0" err="1"/>
              <a:t>teTra</a:t>
            </a:r>
            <a:r>
              <a:rPr lang="en-US" dirty="0"/>
              <a:t> aviation corp., Tokyo, Japan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Research</a:t>
            </a:r>
          </a:p>
          <a:p>
            <a:r>
              <a:rPr lang="en-US" b="1" dirty="0"/>
              <a:t>Bachelor and master: </a:t>
            </a:r>
            <a:r>
              <a:rPr lang="en-US" dirty="0"/>
              <a:t>Deep learning techniques for aerodynamic wing shape optimization</a:t>
            </a:r>
          </a:p>
          <a:p>
            <a:r>
              <a:rPr lang="en-US" b="1" dirty="0"/>
              <a:t>PhD: </a:t>
            </a:r>
            <a:r>
              <a:rPr lang="en-US" dirty="0"/>
              <a:t>electric vertical takeoff and landing (</a:t>
            </a:r>
            <a:r>
              <a:rPr lang="en-US" dirty="0" err="1"/>
              <a:t>eVTOL</a:t>
            </a:r>
            <a:r>
              <a:rPr lang="en-US" dirty="0"/>
              <a:t>) conceptual design and optimization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8635-81EB-CAF4-8F05-3EAB53E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Course project briefing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403496-78BC-E3AA-970F-A1793681CE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1" r="5428" b="610"/>
          <a:stretch/>
        </p:blipFill>
        <p:spPr>
          <a:xfrm>
            <a:off x="9302163" y="335749"/>
            <a:ext cx="1829120" cy="1828800"/>
          </a:xfrm>
          <a:prstGeom prst="ellipse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375037-3081-17C7-FCB9-8AE507692864}"/>
              </a:ext>
            </a:extLst>
          </p:cNvPr>
          <p:cNvSpPr txBox="1"/>
          <p:nvPr/>
        </p:nvSpPr>
        <p:spPr>
          <a:xfrm>
            <a:off x="9151056" y="2233220"/>
            <a:ext cx="21313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linkClick r:id="rId3"/>
              </a:rPr>
              <a:t>https://alfiyandyhr.github.io/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947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>
            <a:normAutofit/>
          </a:bodyPr>
          <a:lstStyle/>
          <a:p>
            <a:r>
              <a:rPr lang="en-US" dirty="0"/>
              <a:t>A Request for Regional Jet Conceptual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1056A5-94C2-52D3-AD80-84232A46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Course project briefing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7883A2-CB81-C2E6-402A-96021DD41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025" y="1422377"/>
            <a:ext cx="6944682" cy="4629788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933FD80C-EFE9-AEF5-FCD2-9A5C75C2E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93" y="1644665"/>
            <a:ext cx="4237463" cy="4185213"/>
          </a:xfrm>
        </p:spPr>
        <p:txBody>
          <a:bodyPr>
            <a:noAutofit/>
          </a:bodyPr>
          <a:lstStyle/>
          <a:p>
            <a:r>
              <a:rPr lang="en-US" sz="1800" dirty="0"/>
              <a:t>Ms. Y from Horizon Group, a consortium of regional airlines in the Greater Bay Area and Southeast Asia, requested a regional jet conceptual design.</a:t>
            </a:r>
          </a:p>
          <a:p>
            <a:r>
              <a:rPr lang="en-US" sz="1800" dirty="0"/>
              <a:t>Aircraft tailored for high-frequency, short-to-medium haul operations.</a:t>
            </a:r>
          </a:p>
          <a:p>
            <a:r>
              <a:rPr lang="en-US" sz="1800" dirty="0"/>
              <a:t>Design philosophies:</a:t>
            </a:r>
          </a:p>
          <a:p>
            <a:pPr lvl="1">
              <a:buFont typeface="Wingdings" pitchFamily="2" charset="2"/>
              <a:buChar char="ü"/>
            </a:pPr>
            <a:r>
              <a:rPr lang="en-US" sz="1600" dirty="0"/>
              <a:t>Operational flexibility</a:t>
            </a:r>
          </a:p>
          <a:p>
            <a:pPr lvl="1">
              <a:buFont typeface="Wingdings" pitchFamily="2" charset="2"/>
              <a:buChar char="ü"/>
            </a:pPr>
            <a:r>
              <a:rPr lang="en-US" sz="1600" dirty="0"/>
              <a:t>Rapid turnaround times</a:t>
            </a:r>
          </a:p>
          <a:p>
            <a:pPr lvl="1">
              <a:buFont typeface="Wingdings" pitchFamily="2" charset="2"/>
              <a:buChar char="ü"/>
            </a:pPr>
            <a:r>
              <a:rPr lang="en-US" sz="1600" dirty="0"/>
              <a:t>Superior economic efficiency</a:t>
            </a:r>
          </a:p>
          <a:p>
            <a:pPr lvl="1">
              <a:buFont typeface="Wingdings" pitchFamily="2" charset="2"/>
              <a:buChar char="ü"/>
            </a:pPr>
            <a:r>
              <a:rPr lang="en-US" sz="1600" dirty="0"/>
              <a:t>Competitive passenger experience</a:t>
            </a:r>
          </a:p>
        </p:txBody>
      </p:sp>
    </p:spTree>
    <p:extLst>
      <p:ext uri="{BB962C8B-B14F-4D97-AF65-F5344CB8AC3E}">
        <p14:creationId xmlns:p14="http://schemas.microsoft.com/office/powerpoint/2010/main" val="8150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Concept of Operations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1056A5-94C2-52D3-AD80-84232A46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Course project briefing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933FD80C-EFE9-AEF5-FCD2-9A5C75C2E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93" y="1585185"/>
            <a:ext cx="4237463" cy="4165986"/>
          </a:xfrm>
        </p:spPr>
        <p:txBody>
          <a:bodyPr>
            <a:noAutofit/>
          </a:bodyPr>
          <a:lstStyle/>
          <a:p>
            <a:r>
              <a:rPr lang="en-US" dirty="0"/>
              <a:t>Operating primarily Hong Kong International Airport (HKG), the aircraft is expected to serve the following sectors: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dirty="0"/>
              <a:t>Da Nang International Airport (DAD)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dirty="0"/>
              <a:t>Wuhan Tianhe International Airport (WUH)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dirty="0"/>
              <a:t>Clark International Airport (CRK)</a:t>
            </a:r>
          </a:p>
          <a:p>
            <a:pPr marL="571500" lvl="1" indent="-342900">
              <a:buFont typeface="+mj-lt"/>
              <a:buAutoNum type="arabicPeriod"/>
            </a:pPr>
            <a:endParaRPr lang="en-US" dirty="0"/>
          </a:p>
          <a:p>
            <a:pPr marL="228600" lvl="1" indent="0">
              <a:buNone/>
            </a:pPr>
            <a:r>
              <a:rPr lang="en-US" sz="3200" dirty="0"/>
              <a:t>HKG – DAD: 930 km</a:t>
            </a:r>
          </a:p>
          <a:p>
            <a:pPr marL="228600" lvl="1" indent="0">
              <a:buNone/>
            </a:pPr>
            <a:r>
              <a:rPr lang="en-US" sz="3200" dirty="0"/>
              <a:t>HKG – WUH: 940 km</a:t>
            </a:r>
          </a:p>
          <a:p>
            <a:pPr marL="228600" lvl="1" indent="0">
              <a:buNone/>
            </a:pPr>
            <a:r>
              <a:rPr lang="en-US" sz="3200" dirty="0"/>
              <a:t>HKG – CRK: 1050 km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2BD198-7E06-43AA-0C87-068D0FE7F100}"/>
              </a:ext>
            </a:extLst>
          </p:cNvPr>
          <p:cNvGrpSpPr/>
          <p:nvPr/>
        </p:nvGrpSpPr>
        <p:grpSpPr>
          <a:xfrm>
            <a:off x="5017549" y="1118193"/>
            <a:ext cx="6784158" cy="5140144"/>
            <a:chOff x="5017549" y="1118193"/>
            <a:chExt cx="6784158" cy="51401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F97049-3112-273B-F85F-E53D05D2D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7549" y="1118193"/>
              <a:ext cx="6784158" cy="5140144"/>
            </a:xfrm>
            <a:prstGeom prst="rect">
              <a:avLst/>
            </a:prstGeom>
          </p:spPr>
        </p:pic>
        <p:pic>
          <p:nvPicPr>
            <p:cNvPr id="13" name="Graphic 12" descr="Marker with solid fill">
              <a:extLst>
                <a:ext uri="{FF2B5EF4-FFF2-40B4-BE49-F238E27FC236}">
                  <a16:creationId xmlns:a16="http://schemas.microsoft.com/office/drawing/2014/main" id="{1B33D56D-034E-CAAE-2E49-5A4E263CB0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18984" y="1861265"/>
              <a:ext cx="496994" cy="496994"/>
            </a:xfrm>
            <a:prstGeom prst="rect">
              <a:avLst/>
            </a:prstGeom>
          </p:spPr>
        </p:pic>
        <p:pic>
          <p:nvPicPr>
            <p:cNvPr id="15" name="Graphic 14" descr="Marker with solid fill">
              <a:extLst>
                <a:ext uri="{FF2B5EF4-FFF2-40B4-BE49-F238E27FC236}">
                  <a16:creationId xmlns:a16="http://schemas.microsoft.com/office/drawing/2014/main" id="{B4B456FE-53E6-471D-8411-9963D070E7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56131" y="4084515"/>
              <a:ext cx="496994" cy="496994"/>
            </a:xfrm>
            <a:prstGeom prst="rect">
              <a:avLst/>
            </a:prstGeom>
          </p:spPr>
        </p:pic>
        <p:pic>
          <p:nvPicPr>
            <p:cNvPr id="16" name="Graphic 15" descr="Marker with solid fill">
              <a:extLst>
                <a:ext uri="{FF2B5EF4-FFF2-40B4-BE49-F238E27FC236}">
                  <a16:creationId xmlns:a16="http://schemas.microsoft.com/office/drawing/2014/main" id="{517387E9-0E51-D614-7A4B-8C4C312774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61666" y="4216744"/>
              <a:ext cx="496994" cy="496994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A037644-4BE6-B546-C06F-300DB100F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2055" y="2358259"/>
              <a:ext cx="75426" cy="98403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1B268A9-7D94-A1BD-EED0-F5B96A67F5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8372" y="3688265"/>
              <a:ext cx="620111" cy="7769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15119C3-E875-33F1-6177-8A65CBEC5D97}"/>
                </a:ext>
              </a:extLst>
            </p:cNvPr>
            <p:cNvCxnSpPr>
              <a:cxnSpLocks/>
            </p:cNvCxnSpPr>
            <p:nvPr/>
          </p:nvCxnSpPr>
          <p:spPr>
            <a:xfrm>
              <a:off x="8748904" y="3688265"/>
              <a:ext cx="773468" cy="89324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761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Design Requirements &amp; Objectives (DRO)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1056A5-94C2-52D3-AD80-84232A46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Course project briefing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7603212-54B8-17F1-AA02-81B5123F8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481254"/>
            <a:ext cx="10552175" cy="4499418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General Requirements</a:t>
            </a:r>
          </a:p>
          <a:p>
            <a:pPr lvl="1"/>
            <a:r>
              <a:rPr lang="en-US" sz="1600" dirty="0"/>
              <a:t>Passenger and cargo capacity, maximum takeoff weight, and aircraft dimensions.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Performance Requirements</a:t>
            </a:r>
          </a:p>
          <a:p>
            <a:pPr lvl="1"/>
            <a:r>
              <a:rPr lang="en-US" sz="1600" dirty="0"/>
              <a:t>Range, service ceiling, takeoff, landing, climb, and cruise.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Certification Requirement</a:t>
            </a:r>
          </a:p>
          <a:p>
            <a:pPr lvl="1"/>
            <a:r>
              <a:rPr lang="en-US" sz="1600" dirty="0"/>
              <a:t>Airworthiness standards: FAR-25 (Transport Category Airplane)</a:t>
            </a:r>
          </a:p>
          <a:p>
            <a:pPr lvl="1"/>
            <a:r>
              <a:rPr lang="en-US" sz="1600" dirty="0">
                <a:hlinkClick r:id="rId2"/>
              </a:rPr>
              <a:t>https://www.ecfr.gov/current/title-14/chapter-I/subchapter-C/part-25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Environmental and Operational Requirement</a:t>
            </a:r>
          </a:p>
          <a:p>
            <a:pPr lvl="1"/>
            <a:r>
              <a:rPr lang="en-US" sz="1600" dirty="0"/>
              <a:t>CO</a:t>
            </a:r>
            <a:r>
              <a:rPr lang="en-US" sz="1600" baseline="-25000" dirty="0"/>
              <a:t>2 </a:t>
            </a:r>
            <a:r>
              <a:rPr lang="en-US" sz="1600" dirty="0"/>
              <a:t>emission, noise levels, fuel consumption per passenger km, rapid turnaround times (e.g., simultaneous passenger and cargo loadings by means of separation of service doors, </a:t>
            </a:r>
            <a:r>
              <a:rPr lang="en-US" sz="1600" dirty="0" err="1"/>
              <a:t>etc</a:t>
            </a:r>
            <a:r>
              <a:rPr lang="en-US" sz="1600" dirty="0"/>
              <a:t>).</a:t>
            </a:r>
            <a:endParaRPr lang="en-US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170417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Additional Measures of Merit (MoM)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1056A5-94C2-52D3-AD80-84232A46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Course project briefing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7603212-54B8-17F1-AA02-81B5123F8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481254"/>
            <a:ext cx="10741747" cy="44994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aseline="-25000" dirty="0"/>
              <a:t>The previous requirements are </a:t>
            </a:r>
            <a:r>
              <a:rPr lang="en-US" sz="3000" b="1" baseline="-25000" dirty="0">
                <a:solidFill>
                  <a:srgbClr val="FF0000"/>
                </a:solidFill>
              </a:rPr>
              <a:t>must-haves</a:t>
            </a:r>
            <a:r>
              <a:rPr lang="en-US" sz="3000" b="1" baseline="-25000" dirty="0"/>
              <a:t>.</a:t>
            </a:r>
            <a:r>
              <a:rPr lang="en-US" sz="3000" baseline="-25000" dirty="0"/>
              <a:t> They are not </a:t>
            </a:r>
            <a:r>
              <a:rPr lang="en-US" sz="3000" b="1" baseline="-25000" dirty="0"/>
              <a:t>nice-to-have</a:t>
            </a:r>
            <a:r>
              <a:rPr lang="en-US" sz="3000" baseline="-25000" dirty="0"/>
              <a:t>.</a:t>
            </a:r>
          </a:p>
          <a:p>
            <a:pPr marL="0" indent="0">
              <a:buNone/>
            </a:pPr>
            <a:endParaRPr lang="en-US" sz="3000" baseline="-25000" dirty="0"/>
          </a:p>
          <a:p>
            <a:pPr marL="0" indent="0">
              <a:buNone/>
            </a:pPr>
            <a:r>
              <a:rPr lang="en-US" sz="3000" baseline="-25000" dirty="0"/>
              <a:t>But you need to be aware that there are </a:t>
            </a:r>
            <a:r>
              <a:rPr lang="en-US" sz="3000" b="1" baseline="-25000" dirty="0">
                <a:solidFill>
                  <a:srgbClr val="FF0000"/>
                </a:solidFill>
              </a:rPr>
              <a:t>several competitors </a:t>
            </a:r>
            <a:r>
              <a:rPr lang="en-US" sz="3000" baseline="-25000" dirty="0"/>
              <a:t>in this market. The more your design exceeds their performance, the higher your chances will be to win this tender (i.e., to outperform competitors in the business world and achieve </a:t>
            </a:r>
            <a:r>
              <a:rPr lang="en-US" sz="3000" b="1" baseline="-25000" dirty="0">
                <a:solidFill>
                  <a:srgbClr val="FF0000"/>
                </a:solidFill>
              </a:rPr>
              <a:t>a higher grade </a:t>
            </a:r>
            <a:r>
              <a:rPr lang="en-US" sz="3000" baseline="-25000" dirty="0"/>
              <a:t>in the academic setting). </a:t>
            </a:r>
          </a:p>
          <a:p>
            <a:pPr marL="0" indent="0">
              <a:buNone/>
            </a:pPr>
            <a:endParaRPr lang="en-US" sz="3000" baseline="-25000" dirty="0"/>
          </a:p>
          <a:p>
            <a:pPr marL="0" indent="0">
              <a:buNone/>
            </a:pPr>
            <a:r>
              <a:rPr lang="en-US" sz="3000" baseline="-25000" dirty="0"/>
              <a:t>So, you should demonstrate </a:t>
            </a:r>
            <a:r>
              <a:rPr lang="en-US" sz="3000" b="1" baseline="-25000" dirty="0">
                <a:solidFill>
                  <a:srgbClr val="FF0000"/>
                </a:solidFill>
              </a:rPr>
              <a:t>higher performance than the requirements </a:t>
            </a:r>
            <a:r>
              <a:rPr lang="en-US" sz="3000" baseline="-25000" dirty="0"/>
              <a:t>plus </a:t>
            </a:r>
            <a:r>
              <a:rPr lang="en-US" sz="3000" b="1" baseline="-25000" dirty="0">
                <a:solidFill>
                  <a:srgbClr val="FF0000"/>
                </a:solidFill>
              </a:rPr>
              <a:t>additional measures of merit (MoM)</a:t>
            </a:r>
            <a:r>
              <a:rPr lang="en-US" sz="3000" baseline="-25000" dirty="0"/>
              <a:t>: e.g., advanced avionics, unique features, innovative materials, future-proofing for future variants using hybrid-electric, design flexibility, etc.</a:t>
            </a:r>
          </a:p>
        </p:txBody>
      </p:sp>
    </p:spTree>
    <p:extLst>
      <p:ext uri="{BB962C8B-B14F-4D97-AF65-F5344CB8AC3E}">
        <p14:creationId xmlns:p14="http://schemas.microsoft.com/office/powerpoint/2010/main" val="37548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Design Project Group Formation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8F9CEAD-73C0-D768-70D7-BEB4FF76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Course project briefing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6F780EFE-A241-A6AF-6706-95D60171B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7824" y="1388363"/>
                <a:ext cx="9749288" cy="2489907"/>
              </a:xfrm>
            </p:spPr>
            <p:txBody>
              <a:bodyPr>
                <a:noAutofit/>
              </a:bodyPr>
              <a:lstStyle/>
              <a:p>
                <a:r>
                  <a:rPr lang="en-US" sz="1800" dirty="0"/>
                  <a:t>There will be 9 groups of 3 or 4 students.</a:t>
                </a:r>
              </a:p>
              <a:p>
                <a:r>
                  <a:rPr lang="en-US" sz="1800" b="1" dirty="0"/>
                  <a:t>Self assign</a:t>
                </a:r>
                <a:r>
                  <a:rPr lang="en-US" sz="1800" dirty="0"/>
                  <a:t>: Go to Canvas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People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Group Tab and then click-and-drag your name from the left panel to your group on the right-hand side.</a:t>
                </a:r>
              </a:p>
              <a:p>
                <a:r>
                  <a:rPr lang="en-US" sz="1800" dirty="0"/>
                  <a:t>Select a group leader to be </a:t>
                </a:r>
                <a:r>
                  <a:rPr lang="en-US" sz="1800" dirty="0">
                    <a:solidFill>
                      <a:srgbClr val="FF0000"/>
                    </a:solidFill>
                  </a:rPr>
                  <a:t>the key contact person </a:t>
                </a:r>
                <a:r>
                  <a:rPr lang="en-US" sz="1800" dirty="0"/>
                  <a:t>with the teaching team.</a:t>
                </a:r>
              </a:p>
              <a:p>
                <a:r>
                  <a:rPr lang="en-US" sz="1800" dirty="0"/>
                  <a:t>If and when any teamwork issues arise, </a:t>
                </a:r>
                <a:r>
                  <a:rPr lang="en-US" sz="1800" i="1" dirty="0"/>
                  <a:t>inform and discuss with us immediately!</a:t>
                </a:r>
              </a:p>
              <a:p>
                <a:r>
                  <a:rPr lang="en-US" sz="1800" dirty="0"/>
                  <a:t>Pay attention to the following important dates!</a:t>
                </a:r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6F780EFE-A241-A6AF-6706-95D60171B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7824" y="1388363"/>
                <a:ext cx="9749288" cy="2489907"/>
              </a:xfrm>
              <a:blipFill>
                <a:blip r:embed="rId2"/>
                <a:stretch>
                  <a:fillRect l="-391" t="-508" r="-391" b="-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C5CF74-31A2-86F3-824C-55662D698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67354"/>
              </p:ext>
            </p:extLst>
          </p:nvPr>
        </p:nvGraphicFramePr>
        <p:xfrm>
          <a:off x="3081686" y="4224683"/>
          <a:ext cx="6028628" cy="20264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4314">
                  <a:extLst>
                    <a:ext uri="{9D8B030D-6E8A-4147-A177-3AD203B41FA5}">
                      <a16:colId xmlns:a16="http://schemas.microsoft.com/office/drawing/2014/main" val="1395471506"/>
                    </a:ext>
                  </a:extLst>
                </a:gridCol>
                <a:gridCol w="3014314">
                  <a:extLst>
                    <a:ext uri="{9D8B030D-6E8A-4147-A177-3AD203B41FA5}">
                      <a16:colId xmlns:a16="http://schemas.microsoft.com/office/drawing/2014/main" val="1693462767"/>
                    </a:ext>
                  </a:extLst>
                </a:gridCol>
              </a:tblGrid>
              <a:tr h="405285"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Task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0300203"/>
                  </a:ext>
                </a:extLst>
              </a:tr>
              <a:tr h="405285">
                <a:tc>
                  <a:txBody>
                    <a:bodyPr/>
                    <a:lstStyle/>
                    <a:p>
                      <a:r>
                        <a:rPr lang="en-US" sz="1600" dirty="0"/>
                        <a:t>February 13, 2026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Finalize group formations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3533486"/>
                  </a:ext>
                </a:extLst>
              </a:tr>
              <a:tr h="405285">
                <a:tc>
                  <a:txBody>
                    <a:bodyPr/>
                    <a:lstStyle/>
                    <a:p>
                      <a:r>
                        <a:rPr lang="en-US" sz="1600" dirty="0"/>
                        <a:t>March 18, 20, &amp; 25, 2026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Midterm project review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2615659"/>
                  </a:ext>
                </a:extLst>
              </a:tr>
              <a:tr h="405285">
                <a:tc>
                  <a:txBody>
                    <a:bodyPr/>
                    <a:lstStyle/>
                    <a:p>
                      <a:r>
                        <a:rPr lang="en-US" sz="1600" dirty="0"/>
                        <a:t>May 6 &amp; 8, 2026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project presentations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3420883"/>
                  </a:ext>
                </a:extLst>
              </a:tr>
              <a:tr h="405285">
                <a:tc>
                  <a:txBody>
                    <a:bodyPr/>
                    <a:lstStyle/>
                    <a:p>
                      <a:r>
                        <a:rPr lang="en-US" sz="1600" dirty="0"/>
                        <a:t>May 15, 2026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Project final report deadline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6811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7BC089-ABD9-DF65-7430-98ACCBF40F97}"/>
              </a:ext>
            </a:extLst>
          </p:cNvPr>
          <p:cNvSpPr txBox="1"/>
          <p:nvPr/>
        </p:nvSpPr>
        <p:spPr>
          <a:xfrm>
            <a:off x="8583538" y="5036305"/>
            <a:ext cx="336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Preliminary Design Review (PDR)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9A15F-F1AC-A69D-750B-BFEF449D98D4}"/>
              </a:ext>
            </a:extLst>
          </p:cNvPr>
          <p:cNvSpPr txBox="1"/>
          <p:nvPr/>
        </p:nvSpPr>
        <p:spPr>
          <a:xfrm>
            <a:off x="8583538" y="5405637"/>
            <a:ext cx="336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Design Review (CDR)</a:t>
            </a:r>
          </a:p>
        </p:txBody>
      </p:sp>
    </p:spTree>
    <p:extLst>
      <p:ext uri="{BB962C8B-B14F-4D97-AF65-F5344CB8AC3E}">
        <p14:creationId xmlns:p14="http://schemas.microsoft.com/office/powerpoint/2010/main" val="72200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/>
              <a:t>Tutorial for Mech 3620 (Aircraft design)-Spring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8</a:t>
            </a:fld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8F9CEAD-73C0-D768-70D7-BEB4FF76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/>
              <a:t>Course project briefing</a:t>
            </a:r>
            <a:endParaRPr lang="en-US" dirty="0"/>
          </a:p>
        </p:txBody>
      </p:sp>
      <p:pic>
        <p:nvPicPr>
          <p:cNvPr id="15" name="Picture 14" descr="A diagram of a cost-effective product&#10;&#10;Description automatically generated">
            <a:extLst>
              <a:ext uri="{FF2B5EF4-FFF2-40B4-BE49-F238E27FC236}">
                <a16:creationId xmlns:a16="http://schemas.microsoft.com/office/drawing/2014/main" id="{D415F32E-6F0B-9D9E-D913-C3B8B556F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768" y="441791"/>
            <a:ext cx="6996461" cy="4706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0716C7-FA25-83BA-2A37-A8AAE5632A91}"/>
              </a:ext>
            </a:extLst>
          </p:cNvPr>
          <p:cNvSpPr txBox="1"/>
          <p:nvPr/>
        </p:nvSpPr>
        <p:spPr>
          <a:xfrm>
            <a:off x="3046140" y="5439678"/>
            <a:ext cx="6099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Ref: </a:t>
            </a:r>
            <a:r>
              <a:rPr lang="en-US" sz="1600" dirty="0" err="1"/>
              <a:t>Murman</a:t>
            </a:r>
            <a:r>
              <a:rPr lang="en-US" sz="1600" dirty="0"/>
              <a:t> 2002, Challenges in the Better, Faster, Cheaper Era, of Aeronautical Design, Engineering, and Manufacturing </a:t>
            </a:r>
            <a:r>
              <a:rPr lang="en-US" sz="1600" dirty="0">
                <a:hlinkClick r:id="rId3"/>
              </a:rPr>
              <a:t>https://doi.org/10.1017/S0001924000091983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3327110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</TotalTime>
  <Words>747</Words>
  <Application>Microsoft Macintosh PowerPoint</Application>
  <PresentationFormat>Widescreen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Light</vt:lpstr>
      <vt:lpstr>Arial</vt:lpstr>
      <vt:lpstr>Cambria Math</vt:lpstr>
      <vt:lpstr>Walbaum Display</vt:lpstr>
      <vt:lpstr>Wingdings</vt:lpstr>
      <vt:lpstr>BohoVogueVTI</vt:lpstr>
      <vt:lpstr>Course Project Briefing</vt:lpstr>
      <vt:lpstr>About me – Alfi (3rd year PhD student)</vt:lpstr>
      <vt:lpstr>A Request for Regional Jet Conceptual Design</vt:lpstr>
      <vt:lpstr>Concept of Operations</vt:lpstr>
      <vt:lpstr>Design Requirements &amp; Objectives (DRO)</vt:lpstr>
      <vt:lpstr>Additional Measures of Merit (MoM)</vt:lpstr>
      <vt:lpstr>Design Project Group Formation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HARIANSYAH Muhammad Alfiyandy</dc:creator>
  <cp:lastModifiedBy>HARIANSYAH Muhammad Alfiyandy</cp:lastModifiedBy>
  <cp:revision>38</cp:revision>
  <dcterms:created xsi:type="dcterms:W3CDTF">2025-01-24T09:06:01Z</dcterms:created>
  <dcterms:modified xsi:type="dcterms:W3CDTF">2026-09-10T13:56:05Z</dcterms:modified>
</cp:coreProperties>
</file>