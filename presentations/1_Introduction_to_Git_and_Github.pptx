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2" r:id="rId1"/>
  </p:sldMasterIdLst>
  <p:sldIdLst>
    <p:sldId id="256" r:id="rId2"/>
    <p:sldId id="258" r:id="rId3"/>
    <p:sldId id="262" r:id="rId4"/>
    <p:sldId id="263" r:id="rId5"/>
    <p:sldId id="266" r:id="rId6"/>
    <p:sldId id="259" r:id="rId7"/>
    <p:sldId id="268" r:id="rId8"/>
    <p:sldId id="269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03"/>
    <p:restoredTop sz="94628"/>
  </p:normalViewPr>
  <p:slideViewPr>
    <p:cSldViewPr snapToGrid="0">
      <p:cViewPr>
        <p:scale>
          <a:sx n="93" d="100"/>
          <a:sy n="93" d="100"/>
        </p:scale>
        <p:origin x="193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7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29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5005-EC25-4FB9-B19B-2437F0B120D2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0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7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19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7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3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6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3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A6D4-154B-4E4D-9001-7A6C328D243E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9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0999-9BD6-4929-BDEC-B84E21C16701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0BDC4764-F656-4735-9820-9886F8DF1D6A}" type="datetime1">
              <a:rPr lang="en-US" smtClean="0"/>
              <a:t>2/3/26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3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61" r:id="rId6"/>
    <p:sldLayoutId id="2147484056" r:id="rId7"/>
    <p:sldLayoutId id="2147484057" r:id="rId8"/>
    <p:sldLayoutId id="2147484058" r:id="rId9"/>
    <p:sldLayoutId id="2147484060" r:id="rId10"/>
    <p:sldLayoutId id="214748405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ignup" TargetMode="External"/><Relationship Id="rId5" Type="http://schemas.openxmlformats.org/officeDocument/2006/relationships/hyperlink" Target="https://desktop.github.com/download/" TargetMode="External"/><Relationship Id="rId4" Type="http://schemas.openxmlformats.org/officeDocument/2006/relationships/hyperlink" Target="https://git-scm.com/downloads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1.pn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6.sv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A1882-D684-E81F-5E0C-6648A8679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 fontScale="90000"/>
          </a:bodyPr>
          <a:lstStyle/>
          <a:p>
            <a:r>
              <a:rPr lang="en-US" sz="6600" dirty="0"/>
              <a:t>Introduction to Git and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A2BD7-5CC6-7203-D968-3B33F33E8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1101046"/>
          </a:xfrm>
        </p:spPr>
        <p:txBody>
          <a:bodyPr anchor="t">
            <a:normAutofit/>
          </a:bodyPr>
          <a:lstStyle/>
          <a:p>
            <a:r>
              <a:rPr lang="en-US" dirty="0"/>
              <a:t>A Version Control System Platform</a:t>
            </a:r>
          </a:p>
          <a:p>
            <a:r>
              <a:rPr lang="en-US" dirty="0"/>
              <a:t>BY </a:t>
            </a:r>
            <a:r>
              <a:rPr lang="en-US" dirty="0" err="1"/>
              <a:t>Alfi</a:t>
            </a:r>
            <a:r>
              <a:rPr lang="en-US" dirty="0"/>
              <a:t>, HKUST, 2026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2B20C68-B203-C286-56A7-012C8A9D4B63}"/>
              </a:ext>
            </a:extLst>
          </p:cNvPr>
          <p:cNvGrpSpPr/>
          <p:nvPr/>
        </p:nvGrpSpPr>
        <p:grpSpPr>
          <a:xfrm>
            <a:off x="1945985" y="505936"/>
            <a:ext cx="8295434" cy="3203632"/>
            <a:chOff x="1230300" y="675647"/>
            <a:chExt cx="8295434" cy="3203632"/>
          </a:xfrm>
        </p:grpSpPr>
        <p:pic>
          <p:nvPicPr>
            <p:cNvPr id="1026" name="Picture 2" descr="GitHub Logo and symbol, meaning, history, PNG, brand">
              <a:extLst>
                <a:ext uri="{FF2B5EF4-FFF2-40B4-BE49-F238E27FC236}">
                  <a16:creationId xmlns:a16="http://schemas.microsoft.com/office/drawing/2014/main" id="{2CAF89C9-07D7-D0BD-70D2-46A8D672307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95" r="17494" b="311"/>
            <a:stretch/>
          </p:blipFill>
          <p:spPr bwMode="auto">
            <a:xfrm>
              <a:off x="5845831" y="675647"/>
              <a:ext cx="3679903" cy="320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Revisiting the Pain: The World without Git - DEV Community">
              <a:extLst>
                <a:ext uri="{FF2B5EF4-FFF2-40B4-BE49-F238E27FC236}">
                  <a16:creationId xmlns:a16="http://schemas.microsoft.com/office/drawing/2014/main" id="{813FF3AD-75F5-42A9-CFDE-FCC2F5A173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0300" y="1359285"/>
              <a:ext cx="4339537" cy="1822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6000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u="sng" dirty="0"/>
              <a:t>versioning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F5A9C-5BC1-EE35-8D6B-E5F6B60D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160" y="1118193"/>
            <a:ext cx="6050899" cy="3903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fancy word for tracking changes to files.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/>
              <a:t>Key Points</a:t>
            </a:r>
          </a:p>
          <a:p>
            <a:r>
              <a:rPr lang="en-US" sz="2400" dirty="0"/>
              <a:t>Take snapshots of changes</a:t>
            </a:r>
          </a:p>
          <a:p>
            <a:r>
              <a:rPr lang="en-US" sz="2400" dirty="0"/>
              <a:t>View the history of changes</a:t>
            </a:r>
          </a:p>
          <a:p>
            <a:r>
              <a:rPr lang="en-US" sz="2400" dirty="0"/>
              <a:t>Roll back changes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8635-81EB-CAF4-8F05-3EAB53E2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Intro to GIT and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2</a:t>
            </a:fld>
            <a:endParaRPr lang="en-US"/>
          </a:p>
        </p:txBody>
      </p:sp>
      <p:pic>
        <p:nvPicPr>
          <p:cNvPr id="2054" name="Picture 6" descr="API Versioning - Developer Documentation">
            <a:extLst>
              <a:ext uri="{FF2B5EF4-FFF2-40B4-BE49-F238E27FC236}">
                <a16:creationId xmlns:a16="http://schemas.microsoft.com/office/drawing/2014/main" id="{D9B07D2B-3D9F-CCD2-98B7-DE334BFF6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395" y="492452"/>
            <a:ext cx="3774378" cy="224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ranch Based Versioning. An approach to software versioning that… | by  Simon Maxen | Medium">
            <a:extLst>
              <a:ext uri="{FF2B5EF4-FFF2-40B4-BE49-F238E27FC236}">
                <a16:creationId xmlns:a16="http://schemas.microsoft.com/office/drawing/2014/main" id="{C24958C9-B421-95CE-1D2B-738F82EDC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912" y="2977326"/>
            <a:ext cx="5678690" cy="28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2846B41-BE64-17C6-61CF-81CDF6D54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</p:spTree>
    <p:extLst>
      <p:ext uri="{BB962C8B-B14F-4D97-AF65-F5344CB8AC3E}">
        <p14:creationId xmlns:p14="http://schemas.microsoft.com/office/powerpoint/2010/main" val="815037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What is Git and </a:t>
            </a:r>
            <a:r>
              <a:rPr lang="en-US" dirty="0" err="1"/>
              <a:t>Github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F5A9C-5BC1-EE35-8D6B-E5F6B60D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160" y="1118194"/>
            <a:ext cx="10442448" cy="284049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Git is an open-source and free </a:t>
            </a:r>
            <a:r>
              <a:rPr lang="en-US" sz="2200" u="sng" dirty="0"/>
              <a:t>version control system </a:t>
            </a:r>
            <a:r>
              <a:rPr lang="en-US" sz="2200" dirty="0"/>
              <a:t>(VCS),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while GitHub is a service platform built on top of Git.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Key Points</a:t>
            </a:r>
          </a:p>
          <a:p>
            <a:r>
              <a:rPr lang="en-US" dirty="0"/>
              <a:t>Git is the protocol language</a:t>
            </a:r>
          </a:p>
          <a:p>
            <a:r>
              <a:rPr lang="en-US" dirty="0"/>
              <a:t>GitHub is just like Google Drive, Dropbox, or One Drive but tailored to programmers.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4" descr="Revisiting the Pain: The World without Git - DEV Community">
            <a:extLst>
              <a:ext uri="{FF2B5EF4-FFF2-40B4-BE49-F238E27FC236}">
                <a16:creationId xmlns:a16="http://schemas.microsoft.com/office/drawing/2014/main" id="{3269DC76-D905-D649-9C38-E0462D523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477" y="1523630"/>
            <a:ext cx="2536186" cy="106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GitHub Logo and symbol, meaning, history, PNG, brand">
            <a:extLst>
              <a:ext uri="{FF2B5EF4-FFF2-40B4-BE49-F238E27FC236}">
                <a16:creationId xmlns:a16="http://schemas.microsoft.com/office/drawing/2014/main" id="{853E0CBC-C7BE-9B65-361E-F4A744115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477" y="2994397"/>
            <a:ext cx="3018703" cy="169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07BAD6-3876-1A8B-8DA9-E7F33BB48942}"/>
              </a:ext>
            </a:extLst>
          </p:cNvPr>
          <p:cNvSpPr txBox="1">
            <a:spLocks/>
          </p:cNvSpPr>
          <p:nvPr/>
        </p:nvSpPr>
        <p:spPr>
          <a:xfrm>
            <a:off x="885160" y="4364120"/>
            <a:ext cx="9574684" cy="17831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Installation and sign up</a:t>
            </a:r>
            <a:endParaRPr lang="en-US" dirty="0"/>
          </a:p>
          <a:p>
            <a:r>
              <a:rPr lang="en-US" dirty="0"/>
              <a:t>To install Git,  go to: </a:t>
            </a:r>
            <a:r>
              <a:rPr lang="en-US" dirty="0">
                <a:hlinkClick r:id="rId4"/>
              </a:rPr>
              <a:t>https://git-scm.com/downloads</a:t>
            </a:r>
            <a:r>
              <a:rPr lang="en-US" dirty="0"/>
              <a:t>  (if you prefer a command line workflow)</a:t>
            </a:r>
          </a:p>
          <a:p>
            <a:r>
              <a:rPr lang="en-US" dirty="0"/>
              <a:t>To install GitHub desktop, go to: </a:t>
            </a:r>
            <a:r>
              <a:rPr lang="en-US" dirty="0">
                <a:hlinkClick r:id="rId5"/>
              </a:rPr>
              <a:t>https://desktop.github.com/download/</a:t>
            </a:r>
            <a:r>
              <a:rPr lang="en-US" dirty="0"/>
              <a:t> (if you prefer a GUI-base workflow)</a:t>
            </a:r>
          </a:p>
          <a:p>
            <a:r>
              <a:rPr lang="en-US" dirty="0"/>
              <a:t>To sign up on GitHub, go to: </a:t>
            </a:r>
            <a:r>
              <a:rPr lang="en-US" dirty="0">
                <a:hlinkClick r:id="rId6"/>
              </a:rPr>
              <a:t>https://github.com/signup</a:t>
            </a:r>
            <a:r>
              <a:rPr lang="en-US" dirty="0"/>
              <a:t> 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199C03C4-CB50-BB80-2CC3-2123C5520C0F}"/>
              </a:ext>
            </a:extLst>
          </p:cNvPr>
          <p:cNvSpPr/>
          <p:nvPr/>
        </p:nvSpPr>
        <p:spPr>
          <a:xfrm>
            <a:off x="10459844" y="5097854"/>
            <a:ext cx="278780" cy="48890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664847-AAFE-E4C3-C760-57FBD81C50D5}"/>
              </a:ext>
            </a:extLst>
          </p:cNvPr>
          <p:cNvSpPr txBox="1"/>
          <p:nvPr/>
        </p:nvSpPr>
        <p:spPr>
          <a:xfrm>
            <a:off x="10738624" y="5097854"/>
            <a:ext cx="87827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choose either one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39E3E89-5B4F-84A0-1223-5F9227B00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Intro to GIT and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FF3F4BA-FF7F-F08D-0EE9-ADA065FA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</p:spTree>
    <p:extLst>
      <p:ext uri="{BB962C8B-B14F-4D97-AF65-F5344CB8AC3E}">
        <p14:creationId xmlns:p14="http://schemas.microsoft.com/office/powerpoint/2010/main" val="1588020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How Git and </a:t>
            </a:r>
            <a:r>
              <a:rPr lang="en-US" dirty="0" err="1"/>
              <a:t>Github</a:t>
            </a:r>
            <a:r>
              <a:rPr lang="en-US" dirty="0"/>
              <a:t> work?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4" descr="Revisiting the Pain: The World without Git - DEV Community">
            <a:extLst>
              <a:ext uri="{FF2B5EF4-FFF2-40B4-BE49-F238E27FC236}">
                <a16:creationId xmlns:a16="http://schemas.microsoft.com/office/drawing/2014/main" id="{3269DC76-D905-D649-9C38-E0462D523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1078" y="3221508"/>
            <a:ext cx="1546530" cy="649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Graphic 18" descr="Syncing cloud with solid fill">
            <a:extLst>
              <a:ext uri="{FF2B5EF4-FFF2-40B4-BE49-F238E27FC236}">
                <a16:creationId xmlns:a16="http://schemas.microsoft.com/office/drawing/2014/main" id="{919EF735-776D-B7D5-91DD-3AF0D96AC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9290" y="4838793"/>
            <a:ext cx="914400" cy="9144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F3403FB4-95FC-2704-A29F-48332C72A5FB}"/>
              </a:ext>
            </a:extLst>
          </p:cNvPr>
          <p:cNvGrpSpPr/>
          <p:nvPr/>
        </p:nvGrpSpPr>
        <p:grpSpPr>
          <a:xfrm>
            <a:off x="2905465" y="1354083"/>
            <a:ext cx="5809785" cy="2434129"/>
            <a:chOff x="2916616" y="1010362"/>
            <a:chExt cx="5809785" cy="243412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C571B9B-21A0-1302-03AC-DFA8FC0B001A}"/>
                </a:ext>
              </a:extLst>
            </p:cNvPr>
            <p:cNvGrpSpPr/>
            <p:nvPr/>
          </p:nvGrpSpPr>
          <p:grpSpPr>
            <a:xfrm>
              <a:off x="3747454" y="1385111"/>
              <a:ext cx="3931376" cy="1445204"/>
              <a:chOff x="3747454" y="1385111"/>
              <a:chExt cx="3931376" cy="1445204"/>
            </a:xfrm>
          </p:grpSpPr>
          <p:pic>
            <p:nvPicPr>
              <p:cNvPr id="8" name="Picture 2" descr="GitHub Logo and symbol, meaning, history, PNG, brand">
                <a:extLst>
                  <a:ext uri="{FF2B5EF4-FFF2-40B4-BE49-F238E27FC236}">
                    <a16:creationId xmlns:a16="http://schemas.microsoft.com/office/drawing/2014/main" id="{853E0CBC-C7BE-9B65-361E-F4A7441157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20787" y="1732369"/>
                <a:ext cx="1951903" cy="10979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7EEF5F-B618-02B9-F962-3777B520FE99}"/>
                  </a:ext>
                </a:extLst>
              </p:cNvPr>
              <p:cNvSpPr txBox="1"/>
              <p:nvPr/>
            </p:nvSpPr>
            <p:spPr>
              <a:xfrm>
                <a:off x="3747454" y="1385111"/>
                <a:ext cx="39313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A repository of files is stored on GitHub</a:t>
                </a:r>
              </a:p>
            </p:txBody>
          </p:sp>
          <p:pic>
            <p:nvPicPr>
              <p:cNvPr id="15" name="Graphic 14" descr="Open folder with solid fill">
                <a:extLst>
                  <a:ext uri="{FF2B5EF4-FFF2-40B4-BE49-F238E27FC236}">
                    <a16:creationId xmlns:a16="http://schemas.microsoft.com/office/drawing/2014/main" id="{EA6BB734-4C65-1789-44C0-A8291185B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020587" y="180038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7" name="Graphic 16" descr="Database with solid fill">
                <a:extLst>
                  <a:ext uri="{FF2B5EF4-FFF2-40B4-BE49-F238E27FC236}">
                    <a16:creationId xmlns:a16="http://schemas.microsoft.com/office/drawing/2014/main" id="{C24F6B79-E3AA-78C3-3825-32674E9447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105395" y="1800380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3" name="Cloud 22">
              <a:extLst>
                <a:ext uri="{FF2B5EF4-FFF2-40B4-BE49-F238E27FC236}">
                  <a16:creationId xmlns:a16="http://schemas.microsoft.com/office/drawing/2014/main" id="{4A459D9E-C97D-0C68-0513-27666B5206E8}"/>
                </a:ext>
              </a:extLst>
            </p:cNvPr>
            <p:cNvSpPr/>
            <p:nvPr/>
          </p:nvSpPr>
          <p:spPr>
            <a:xfrm>
              <a:off x="2916616" y="1010362"/>
              <a:ext cx="5809785" cy="2434129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D7F8FB1-C004-CC80-858B-4CFFD36F74CD}"/>
              </a:ext>
            </a:extLst>
          </p:cNvPr>
          <p:cNvGrpSpPr/>
          <p:nvPr/>
        </p:nvGrpSpPr>
        <p:grpSpPr>
          <a:xfrm>
            <a:off x="537207" y="3996933"/>
            <a:ext cx="11149272" cy="1975689"/>
            <a:chOff x="537207" y="3996933"/>
            <a:chExt cx="11149272" cy="197568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D68C8A3-C2E5-996E-B61F-E801F272F989}"/>
                </a:ext>
              </a:extLst>
            </p:cNvPr>
            <p:cNvGrpSpPr/>
            <p:nvPr/>
          </p:nvGrpSpPr>
          <p:grpSpPr>
            <a:xfrm>
              <a:off x="588735" y="4195332"/>
              <a:ext cx="3621655" cy="1624083"/>
              <a:chOff x="1023633" y="4589517"/>
              <a:chExt cx="3621655" cy="1624083"/>
            </a:xfrm>
          </p:grpSpPr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6A269D02-ABEA-0DC6-6397-D5737BA10FA5}"/>
                  </a:ext>
                </a:extLst>
              </p:cNvPr>
              <p:cNvSpPr/>
              <p:nvPr/>
            </p:nvSpPr>
            <p:spPr>
              <a:xfrm>
                <a:off x="1137424" y="4589517"/>
                <a:ext cx="3389972" cy="162408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B4B4457-D8EF-5969-2BD6-B64A4517AFA1}"/>
                  </a:ext>
                </a:extLst>
              </p:cNvPr>
              <p:cNvGrpSpPr/>
              <p:nvPr/>
            </p:nvGrpSpPr>
            <p:grpSpPr>
              <a:xfrm>
                <a:off x="1023633" y="4702949"/>
                <a:ext cx="3621655" cy="1485611"/>
                <a:chOff x="1023633" y="4702949"/>
                <a:chExt cx="3621655" cy="1485611"/>
              </a:xfrm>
            </p:grpSpPr>
            <p:pic>
              <p:nvPicPr>
                <p:cNvPr id="21" name="Graphic 20" descr="Download from cloud with solid fill">
                  <a:extLst>
                    <a:ext uri="{FF2B5EF4-FFF2-40B4-BE49-F238E27FC236}">
                      <a16:creationId xmlns:a16="http://schemas.microsoft.com/office/drawing/2014/main" id="{B52F2246-E5B6-E52A-BA51-C03FC84928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22206" y="5274160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454335C-BAF8-F62C-39B5-69EA319D6DC0}"/>
                    </a:ext>
                  </a:extLst>
                </p:cNvPr>
                <p:cNvSpPr txBox="1"/>
                <p:nvPr/>
              </p:nvSpPr>
              <p:spPr>
                <a:xfrm>
                  <a:off x="1023633" y="4702949"/>
                  <a:ext cx="3621655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Developer clones/pulls request from the GitHub repository.</a:t>
                  </a:r>
                </a:p>
              </p:txBody>
            </p:sp>
          </p:grp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82350ED-5B48-0047-818F-A4281934FF56}"/>
                </a:ext>
              </a:extLst>
            </p:cNvPr>
            <p:cNvGrpSpPr/>
            <p:nvPr/>
          </p:nvGrpSpPr>
          <p:grpSpPr>
            <a:xfrm>
              <a:off x="4263381" y="4170292"/>
              <a:ext cx="3621655" cy="1624083"/>
              <a:chOff x="4409279" y="4175005"/>
              <a:chExt cx="3621655" cy="1624083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4EA4C8-A5B7-DF69-24EF-971B8A621AA9}"/>
                  </a:ext>
                </a:extLst>
              </p:cNvPr>
              <p:cNvSpPr txBox="1"/>
              <p:nvPr/>
            </p:nvSpPr>
            <p:spPr>
              <a:xfrm>
                <a:off x="4409279" y="4210555"/>
                <a:ext cx="362165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Developer makes changes</a:t>
                </a:r>
              </a:p>
              <a:p>
                <a:pPr algn="ctr"/>
                <a:r>
                  <a:rPr lang="en-US" dirty="0"/>
                  <a:t>to the local repository.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78EF719-85E4-302A-9E0F-F36D9F49F26B}"/>
                  </a:ext>
                </a:extLst>
              </p:cNvPr>
              <p:cNvSpPr txBox="1"/>
              <p:nvPr/>
            </p:nvSpPr>
            <p:spPr>
              <a:xfrm>
                <a:off x="4893827" y="4920166"/>
                <a:ext cx="21162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Edit files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 files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Delete files</a:t>
                </a:r>
              </a:p>
            </p:txBody>
          </p:sp>
          <p:pic>
            <p:nvPicPr>
              <p:cNvPr id="32" name="Graphic 31" descr="Programmer male with solid fill">
                <a:extLst>
                  <a:ext uri="{FF2B5EF4-FFF2-40B4-BE49-F238E27FC236}">
                    <a16:creationId xmlns:a16="http://schemas.microsoft.com/office/drawing/2014/main" id="{39F2170D-9D58-5E3F-7C1B-CC9BACE2AC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6528888" y="4826936"/>
                <a:ext cx="838436" cy="838436"/>
              </a:xfrm>
              <a:prstGeom prst="rect">
                <a:avLst/>
              </a:prstGeom>
            </p:spPr>
          </p:pic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5E7751CF-D974-C250-7175-46536FBD7DEE}"/>
                  </a:ext>
                </a:extLst>
              </p:cNvPr>
              <p:cNvSpPr/>
              <p:nvPr/>
            </p:nvSpPr>
            <p:spPr>
              <a:xfrm>
                <a:off x="4736580" y="4175005"/>
                <a:ext cx="2874400" cy="162408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3585C882-50A7-072F-8C21-3430FE216165}"/>
                </a:ext>
              </a:extLst>
            </p:cNvPr>
            <p:cNvSpPr/>
            <p:nvPr/>
          </p:nvSpPr>
          <p:spPr>
            <a:xfrm>
              <a:off x="537207" y="3996933"/>
              <a:ext cx="11149272" cy="1975689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B9DCED8-FB06-56CB-0B41-2129836E2408}"/>
                </a:ext>
              </a:extLst>
            </p:cNvPr>
            <p:cNvGrpSpPr/>
            <p:nvPr/>
          </p:nvGrpSpPr>
          <p:grpSpPr>
            <a:xfrm>
              <a:off x="7941735" y="4180477"/>
              <a:ext cx="3621655" cy="1624083"/>
              <a:chOff x="7941735" y="4180477"/>
              <a:chExt cx="3621655" cy="1624083"/>
            </a:xfrm>
          </p:grpSpPr>
          <p:pic>
            <p:nvPicPr>
              <p:cNvPr id="34" name="Graphic 33" descr="Upload with solid fill">
                <a:extLst>
                  <a:ext uri="{FF2B5EF4-FFF2-40B4-BE49-F238E27FC236}">
                    <a16:creationId xmlns:a16="http://schemas.microsoft.com/office/drawing/2014/main" id="{4225943B-7749-164B-7D8D-7F93DAA376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894156" y="482359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FE0BA06-3EA0-703E-3BAD-6CAC2BA09657}"/>
                  </a:ext>
                </a:extLst>
              </p:cNvPr>
              <p:cNvSpPr txBox="1"/>
              <p:nvPr/>
            </p:nvSpPr>
            <p:spPr>
              <a:xfrm>
                <a:off x="7941735" y="4248223"/>
                <a:ext cx="362165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Developer commits changes and pushes to the GitHub repository.</a:t>
                </a:r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32274548-D96C-E0A9-3D4B-5A56216A936F}"/>
                  </a:ext>
                </a:extLst>
              </p:cNvPr>
              <p:cNvSpPr/>
              <p:nvPr/>
            </p:nvSpPr>
            <p:spPr>
              <a:xfrm>
                <a:off x="7958772" y="4180477"/>
                <a:ext cx="3530702" cy="162408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1" name="Graphic 40" descr="Share with solid fill">
                <a:extLst>
                  <a:ext uri="{FF2B5EF4-FFF2-40B4-BE49-F238E27FC236}">
                    <a16:creationId xmlns:a16="http://schemas.microsoft.com/office/drawing/2014/main" id="{A750655F-B804-4E46-3C7E-88C7B125A4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8795858" y="4827364"/>
                <a:ext cx="866852" cy="866852"/>
              </a:xfrm>
              <a:prstGeom prst="rect">
                <a:avLst/>
              </a:prstGeom>
            </p:spPr>
          </p:pic>
        </p:grpSp>
      </p:grpSp>
      <p:pic>
        <p:nvPicPr>
          <p:cNvPr id="46" name="Graphic 45" descr="Arrow Right with solid fill">
            <a:extLst>
              <a:ext uri="{FF2B5EF4-FFF2-40B4-BE49-F238E27FC236}">
                <a16:creationId xmlns:a16="http://schemas.microsoft.com/office/drawing/2014/main" id="{5EF593F0-9D33-B4FA-5504-31C7DA59CC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8536175">
            <a:off x="2245279" y="3105822"/>
            <a:ext cx="914400" cy="914400"/>
          </a:xfrm>
          <a:prstGeom prst="rect">
            <a:avLst/>
          </a:prstGeom>
        </p:spPr>
      </p:pic>
      <p:pic>
        <p:nvPicPr>
          <p:cNvPr id="47" name="Graphic 46" descr="Arrow Right with solid fill">
            <a:extLst>
              <a:ext uri="{FF2B5EF4-FFF2-40B4-BE49-F238E27FC236}">
                <a16:creationId xmlns:a16="http://schemas.microsoft.com/office/drawing/2014/main" id="{639D681A-0A7C-6DB0-41B6-60E1375DCBF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2685742">
            <a:off x="8170167" y="3099597"/>
            <a:ext cx="914400" cy="914400"/>
          </a:xfrm>
          <a:prstGeom prst="rect">
            <a:avLst/>
          </a:prstGeom>
        </p:spPr>
      </p:pic>
      <p:pic>
        <p:nvPicPr>
          <p:cNvPr id="48" name="Graphic 47" descr="Arrow Right with solid fill">
            <a:extLst>
              <a:ext uri="{FF2B5EF4-FFF2-40B4-BE49-F238E27FC236}">
                <a16:creationId xmlns:a16="http://schemas.microsoft.com/office/drawing/2014/main" id="{87D86A52-7865-F1DE-38E0-9E9275C6BA2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10699" y="4647384"/>
            <a:ext cx="448083" cy="914400"/>
          </a:xfrm>
          <a:prstGeom prst="rect">
            <a:avLst/>
          </a:prstGeom>
        </p:spPr>
      </p:pic>
      <p:pic>
        <p:nvPicPr>
          <p:cNvPr id="49" name="Graphic 48" descr="Arrow Right with solid fill">
            <a:extLst>
              <a:ext uri="{FF2B5EF4-FFF2-40B4-BE49-F238E27FC236}">
                <a16:creationId xmlns:a16="http://schemas.microsoft.com/office/drawing/2014/main" id="{DBE1B7A0-6607-4AFB-6D78-8B0E7F582A8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485955" y="4641228"/>
            <a:ext cx="448083" cy="914400"/>
          </a:xfrm>
          <a:prstGeom prst="rect">
            <a:avLst/>
          </a:prstGeom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4D717-27A8-BEB1-D805-2EF3F1C6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Intro to GIT and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B4B4202-D44E-9D96-5785-3BFD5284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</p:spTree>
    <p:extLst>
      <p:ext uri="{BB962C8B-B14F-4D97-AF65-F5344CB8AC3E}">
        <p14:creationId xmlns:p14="http://schemas.microsoft.com/office/powerpoint/2010/main" val="372581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Typical workflow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  <p:pic>
        <p:nvPicPr>
          <p:cNvPr id="5124" name="Picture 4" descr="Introduction To GitHub And Git Version Control Workflow | Build5Nines">
            <a:extLst>
              <a:ext uri="{FF2B5EF4-FFF2-40B4-BE49-F238E27FC236}">
                <a16:creationId xmlns:a16="http://schemas.microsoft.com/office/drawing/2014/main" id="{16312597-60BC-FA49-88E8-078E3F1B9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929" y="3021016"/>
            <a:ext cx="9142142" cy="315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Shaun Abram » Blog Archive » Git Branching Strategies">
            <a:extLst>
              <a:ext uri="{FF2B5EF4-FFF2-40B4-BE49-F238E27FC236}">
                <a16:creationId xmlns:a16="http://schemas.microsoft.com/office/drawing/2014/main" id="{D280F835-6F05-B8E3-5AA1-E703787DA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121" y="1038910"/>
            <a:ext cx="3819757" cy="179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FD411C-6844-C9A6-39EE-8345FABF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Intro to GIT and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267D41E-5C43-C349-CA3D-F33C43BB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</p:spTree>
    <p:extLst>
      <p:ext uri="{BB962C8B-B14F-4D97-AF65-F5344CB8AC3E}">
        <p14:creationId xmlns:p14="http://schemas.microsoft.com/office/powerpoint/2010/main" val="125519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49ABD3-3D9D-4E4B-9460-DADA42C1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Workflows on GitHub desktop (1/2)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3A0E1C5-C5AF-66D0-A5D0-E5875AB3B58B}"/>
              </a:ext>
            </a:extLst>
          </p:cNvPr>
          <p:cNvSpPr txBox="1">
            <a:spLocks/>
          </p:cNvSpPr>
          <p:nvPr/>
        </p:nvSpPr>
        <p:spPr>
          <a:xfrm>
            <a:off x="885159" y="1204332"/>
            <a:ext cx="10756713" cy="5152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dirty="0"/>
              <a:t>Create a remote repository on GitHub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AircraftDesignProject</a:t>
            </a:r>
            <a:r>
              <a:rPr lang="en-US" dirty="0"/>
              <a:t>) and add collaborators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Create issues for new features: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“Feature: wing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”Feature: fuselage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Open GitHub desktop, sign in to your account, and click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“Authorize desktop”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Clone a GitHub repository to your local directory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alfiyandyhr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AircraftDesignProject.git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Check available branches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“Current Branch” </a:t>
            </a:r>
            <a:r>
              <a:rPr lang="en-US" dirty="0"/>
              <a:t>tab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dirty="0" err="1"/>
              <a:t>Alfi</a:t>
            </a:r>
            <a:r>
              <a:rPr lang="en-US" dirty="0"/>
              <a:t> creates a new branch called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“wing-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US" dirty="0">
                <a:cs typeface="Courier New" panose="02070309020205020404" pitchFamily="49" charset="0"/>
              </a:rPr>
              <a:t>and publishes it to the remote repository.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dirty="0" err="1"/>
              <a:t>Alfi</a:t>
            </a:r>
            <a:r>
              <a:rPr lang="en-US" dirty="0"/>
              <a:t> opens the branch on an external text editor (e.g., Sublime Text)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dirty="0" err="1"/>
              <a:t>Alfi</a:t>
            </a:r>
            <a:r>
              <a:rPr lang="en-US" dirty="0"/>
              <a:t> starts working on that new branch: create, edit, or delete files </a:t>
            </a:r>
            <a:r>
              <a:rPr lang="en-US" dirty="0">
                <a:sym typeface="Wingdings" pitchFamily="2" charset="2"/>
              </a:rPr>
              <a:t> commit  push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dirty="0" err="1">
                <a:sym typeface="Wingdings" pitchFamily="2" charset="2"/>
              </a:rPr>
              <a:t>Alfi</a:t>
            </a:r>
            <a:r>
              <a:rPr lang="en-US" dirty="0">
                <a:sym typeface="Wingdings" pitchFamily="2" charset="2"/>
              </a:rPr>
              <a:t> makes a pull request by clicking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“Preview Pull Request” </a:t>
            </a:r>
            <a:r>
              <a:rPr lang="en-US" dirty="0">
                <a:cs typeface="Courier New" panose="02070309020205020404" pitchFamily="49" charset="0"/>
                <a:sym typeface="Wingdings" pitchFamily="2" charset="2"/>
              </a:rPr>
              <a:t>and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“Create Pull Request”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dirty="0" err="1">
                <a:sym typeface="Wingdings" pitchFamily="2" charset="2"/>
              </a:rPr>
              <a:t>Alfi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assignes</a:t>
            </a:r>
            <a:r>
              <a:rPr lang="en-US" dirty="0">
                <a:sym typeface="Wingdings" pitchFamily="2" charset="2"/>
              </a:rPr>
              <a:t> a reviewer (</a:t>
            </a:r>
            <a:r>
              <a:rPr lang="en-US" dirty="0" err="1">
                <a:sym typeface="Wingdings" pitchFamily="2" charset="2"/>
              </a:rPr>
              <a:t>Reyner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dirty="0">
                <a:sym typeface="Wingdings" pitchFamily="2" charset="2"/>
              </a:rPr>
              <a:t>Reviewer (</a:t>
            </a:r>
            <a:r>
              <a:rPr lang="en-US" dirty="0" err="1">
                <a:sym typeface="Wingdings" pitchFamily="2" charset="2"/>
              </a:rPr>
              <a:t>Reyner</a:t>
            </a:r>
            <a:r>
              <a:rPr lang="en-US" dirty="0">
                <a:sym typeface="Wingdings" pitchFamily="2" charset="2"/>
              </a:rPr>
              <a:t>) agrees  add which development to close  merge with the main branch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D894BEA-0B3C-B38D-5B0E-5ECE186D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Intro to GIT and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886A83E-5279-A264-D014-21F1637A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</p:spTree>
    <p:extLst>
      <p:ext uri="{BB962C8B-B14F-4D97-AF65-F5344CB8AC3E}">
        <p14:creationId xmlns:p14="http://schemas.microsoft.com/office/powerpoint/2010/main" val="722001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49ABD3-3D9D-4E4B-9460-DADA42C1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Workflows on GitHub desktop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0531A-97FB-A108-5F44-F49EA908A08C}"/>
              </a:ext>
            </a:extLst>
          </p:cNvPr>
          <p:cNvSpPr txBox="1">
            <a:spLocks/>
          </p:cNvSpPr>
          <p:nvPr/>
        </p:nvSpPr>
        <p:spPr>
          <a:xfrm>
            <a:off x="885159" y="1204332"/>
            <a:ext cx="10756713" cy="5152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12"/>
            </a:pPr>
            <a:r>
              <a:rPr lang="en-US" dirty="0" err="1"/>
              <a:t>Reyner</a:t>
            </a:r>
            <a:r>
              <a:rPr lang="en-US" dirty="0"/>
              <a:t> creates a new branch called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“fuselage-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US" dirty="0">
                <a:cs typeface="Courier New" panose="02070309020205020404" pitchFamily="49" charset="0"/>
              </a:rPr>
              <a:t>and publishes it to the remote repository.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US" dirty="0" err="1"/>
              <a:t>Reyner</a:t>
            </a:r>
            <a:r>
              <a:rPr lang="en-US" dirty="0"/>
              <a:t> opens the branch on an external text editor (e.g., Visual Studio)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US" dirty="0" err="1"/>
              <a:t>Reyner</a:t>
            </a:r>
            <a:r>
              <a:rPr lang="en-US" dirty="0"/>
              <a:t> starts working on that new branch: create, edit, or delete files </a:t>
            </a:r>
            <a:r>
              <a:rPr lang="en-US" dirty="0">
                <a:sym typeface="Wingdings" pitchFamily="2" charset="2"/>
              </a:rPr>
              <a:t> commit  push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US" dirty="0" err="1">
                <a:sym typeface="Wingdings" pitchFamily="2" charset="2"/>
              </a:rPr>
              <a:t>Reyner</a:t>
            </a:r>
            <a:r>
              <a:rPr lang="en-US" dirty="0">
                <a:sym typeface="Wingdings" pitchFamily="2" charset="2"/>
              </a:rPr>
              <a:t> makes a pull request by clicking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“Preview Pull Request” </a:t>
            </a:r>
            <a:r>
              <a:rPr lang="en-US" dirty="0">
                <a:cs typeface="Courier New" panose="02070309020205020404" pitchFamily="49" charset="0"/>
                <a:sym typeface="Wingdings" pitchFamily="2" charset="2"/>
              </a:rPr>
              <a:t>and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“Create Pull Request”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US" dirty="0" err="1">
                <a:sym typeface="Wingdings" pitchFamily="2" charset="2"/>
              </a:rPr>
              <a:t>Reyner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assignes</a:t>
            </a:r>
            <a:r>
              <a:rPr lang="en-US" dirty="0">
                <a:sym typeface="Wingdings" pitchFamily="2" charset="2"/>
              </a:rPr>
              <a:t> a reviewer (</a:t>
            </a:r>
            <a:r>
              <a:rPr lang="en-US" dirty="0" err="1">
                <a:sym typeface="Wingdings" pitchFamily="2" charset="2"/>
              </a:rPr>
              <a:t>Alfi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US" dirty="0">
                <a:sym typeface="Wingdings" pitchFamily="2" charset="2"/>
              </a:rPr>
              <a:t>Reviewer (</a:t>
            </a:r>
            <a:r>
              <a:rPr lang="en-US" dirty="0" err="1">
                <a:sym typeface="Wingdings" pitchFamily="2" charset="2"/>
              </a:rPr>
              <a:t>Alfi</a:t>
            </a:r>
            <a:r>
              <a:rPr lang="en-US" dirty="0">
                <a:sym typeface="Wingdings" pitchFamily="2" charset="2"/>
              </a:rPr>
              <a:t>) agrees  add which development to close  merge with the main branch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US" dirty="0" err="1"/>
              <a:t>Alfi</a:t>
            </a:r>
            <a:r>
              <a:rPr lang="en-US" dirty="0"/>
              <a:t> and </a:t>
            </a:r>
            <a:r>
              <a:rPr lang="en-US" dirty="0" err="1"/>
              <a:t>Reyner</a:t>
            </a:r>
            <a:r>
              <a:rPr lang="en-US" dirty="0"/>
              <a:t> fetch the updated main branch by clicking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“Fetch origin”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US" dirty="0" err="1"/>
              <a:t>Alfi</a:t>
            </a:r>
            <a:r>
              <a:rPr lang="en-US" dirty="0"/>
              <a:t> and </a:t>
            </a:r>
            <a:r>
              <a:rPr lang="en-US" dirty="0" err="1"/>
              <a:t>Reyner</a:t>
            </a:r>
            <a:r>
              <a:rPr lang="en-US" dirty="0"/>
              <a:t> delete their old branch on their local branch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09FE07F-0C10-1B95-93B5-60E905CA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Intro to GIT and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1555E9D-A47D-F6DD-B63E-9814DF4DC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</p:spTree>
    <p:extLst>
      <p:ext uri="{BB962C8B-B14F-4D97-AF65-F5344CB8AC3E}">
        <p14:creationId xmlns:p14="http://schemas.microsoft.com/office/powerpoint/2010/main" val="457658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8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49ABD3-3D9D-4E4B-9460-DADA42C1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Resolving a conflict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3A0E1C5-C5AF-66D0-A5D0-E5875AB3B58B}"/>
              </a:ext>
            </a:extLst>
          </p:cNvPr>
          <p:cNvSpPr txBox="1">
            <a:spLocks/>
          </p:cNvSpPr>
          <p:nvPr/>
        </p:nvSpPr>
        <p:spPr>
          <a:xfrm>
            <a:off x="885159" y="1204332"/>
            <a:ext cx="10756713" cy="5152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dirty="0" err="1"/>
              <a:t>Reyner</a:t>
            </a:r>
            <a:r>
              <a:rPr lang="en-US" dirty="0"/>
              <a:t> modifies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US" dirty="0"/>
              <a:t>to include the following text:</a:t>
            </a:r>
          </a:p>
          <a:p>
            <a:pPr lvl="1"/>
            <a:r>
              <a:rPr lang="en-US" dirty="0"/>
              <a:t>“</a:t>
            </a:r>
            <a:r>
              <a:rPr lang="en-US" b="0" i="0" dirty="0">
                <a:solidFill>
                  <a:srgbClr val="1F2328"/>
                </a:solidFill>
                <a:effectLst/>
              </a:rPr>
              <a:t>- designing an aircraft given a set of requirements from Mr. Seth</a:t>
            </a:r>
            <a:r>
              <a:rPr lang="en-US" dirty="0"/>
              <a:t>”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dirty="0" err="1">
                <a:cs typeface="Courier New" panose="02070309020205020404" pitchFamily="49" charset="0"/>
              </a:rPr>
              <a:t>Reyner</a:t>
            </a:r>
            <a:r>
              <a:rPr lang="en-US" dirty="0">
                <a:cs typeface="Courier New" panose="02070309020205020404" pitchFamily="49" charset="0"/>
              </a:rPr>
              <a:t> commits and pushes to the remote repository (main branch)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dirty="0" err="1">
                <a:cs typeface="Courier New" panose="02070309020205020404" pitchFamily="49" charset="0"/>
              </a:rPr>
              <a:t>Alfi</a:t>
            </a:r>
            <a:r>
              <a:rPr lang="en-US" dirty="0">
                <a:cs typeface="Courier New" panose="02070309020205020404" pitchFamily="49" charset="0"/>
              </a:rPr>
              <a:t> also modifies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US" dirty="0"/>
              <a:t>to include the following text (without pulling the latest repo):</a:t>
            </a:r>
          </a:p>
          <a:p>
            <a:pPr lvl="1"/>
            <a:r>
              <a:rPr lang="en-US" dirty="0"/>
              <a:t>“</a:t>
            </a:r>
            <a:r>
              <a:rPr lang="en-US" dirty="0">
                <a:solidFill>
                  <a:srgbClr val="1F2328"/>
                </a:solidFill>
              </a:rPr>
              <a:t>Analyses include aerodynamics, stability, structures, and initial sizing.</a:t>
            </a:r>
            <a:r>
              <a:rPr lang="en-US" dirty="0"/>
              <a:t>”</a:t>
            </a:r>
            <a:endParaRPr lang="en-US" dirty="0"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 err="1">
                <a:cs typeface="Courier New" panose="02070309020205020404" pitchFamily="49" charset="0"/>
              </a:rPr>
              <a:t>Alfi</a:t>
            </a:r>
            <a:r>
              <a:rPr lang="en-US" dirty="0">
                <a:cs typeface="Courier New" panose="02070309020205020404" pitchFamily="49" charset="0"/>
              </a:rPr>
              <a:t> has to resolve the conflicts by manual editing (on text editor):</a:t>
            </a:r>
          </a:p>
          <a:p>
            <a:pPr marL="571500" lvl="1" indent="-342900">
              <a:buFont typeface="+mj-lt"/>
              <a:buAutoNum type="alphaLcParenR"/>
            </a:pPr>
            <a:r>
              <a:rPr lang="en-US" dirty="0">
                <a:cs typeface="Courier New" panose="02070309020205020404" pitchFamily="49" charset="0"/>
              </a:rPr>
              <a:t>Accepts </a:t>
            </a:r>
            <a:r>
              <a:rPr lang="en-US" dirty="0" err="1">
                <a:cs typeface="Courier New" panose="02070309020205020404" pitchFamily="49" charset="0"/>
              </a:rPr>
              <a:t>Reyner’s</a:t>
            </a:r>
            <a:r>
              <a:rPr lang="en-US" dirty="0">
                <a:cs typeface="Courier New" panose="02070309020205020404" pitchFamily="49" charset="0"/>
              </a:rPr>
              <a:t> change, discard his change</a:t>
            </a:r>
          </a:p>
          <a:p>
            <a:pPr marL="571500" lvl="1" indent="-342900">
              <a:buFont typeface="+mj-lt"/>
              <a:buAutoNum type="alphaLcParenR"/>
            </a:pPr>
            <a:r>
              <a:rPr lang="en-US" dirty="0">
                <a:cs typeface="Courier New" panose="02070309020205020404" pitchFamily="49" charset="0"/>
              </a:rPr>
              <a:t>Accepts his change, discard </a:t>
            </a:r>
            <a:r>
              <a:rPr lang="en-US" dirty="0" err="1">
                <a:cs typeface="Courier New" panose="02070309020205020404" pitchFamily="49" charset="0"/>
              </a:rPr>
              <a:t>Reyner’s</a:t>
            </a:r>
            <a:r>
              <a:rPr lang="en-US" dirty="0">
                <a:cs typeface="Courier New" panose="02070309020205020404" pitchFamily="49" charset="0"/>
              </a:rPr>
              <a:t> change</a:t>
            </a:r>
          </a:p>
          <a:p>
            <a:pPr marL="571500" lvl="1" indent="-342900">
              <a:buFont typeface="+mj-lt"/>
              <a:buAutoNum type="alphaLcParenR"/>
            </a:pPr>
            <a:r>
              <a:rPr lang="en-US" dirty="0">
                <a:cs typeface="Courier New" panose="02070309020205020404" pitchFamily="49" charset="0"/>
              </a:rPr>
              <a:t>Modifies the change to accommodate his change and </a:t>
            </a:r>
            <a:r>
              <a:rPr lang="en-US" dirty="0" err="1">
                <a:cs typeface="Courier New" panose="02070309020205020404" pitchFamily="49" charset="0"/>
              </a:rPr>
              <a:t>Reyner’s</a:t>
            </a:r>
            <a:r>
              <a:rPr lang="en-US" dirty="0">
                <a:cs typeface="Courier New" panose="02070309020205020404" pitchFamily="49" charset="0"/>
              </a:rPr>
              <a:t> change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2267FCD-12DB-6E60-6A81-4A17593D88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Intro to GIT and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23BD6D2-6632-9AE9-3376-AC56F100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</p:spTree>
    <p:extLst>
      <p:ext uri="{BB962C8B-B14F-4D97-AF65-F5344CB8AC3E}">
        <p14:creationId xmlns:p14="http://schemas.microsoft.com/office/powerpoint/2010/main" val="278686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49ABD3-3D9D-4E4B-9460-DADA42C1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Workflows on command line (1/2)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3A0E1C5-C5AF-66D0-A5D0-E5875AB3B58B}"/>
              </a:ext>
            </a:extLst>
          </p:cNvPr>
          <p:cNvSpPr txBox="1">
            <a:spLocks/>
          </p:cNvSpPr>
          <p:nvPr/>
        </p:nvSpPr>
        <p:spPr>
          <a:xfrm>
            <a:off x="885159" y="1204332"/>
            <a:ext cx="10756713" cy="51520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dirty="0"/>
              <a:t>Create a remote repository on GitHub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AircraftDesignProject</a:t>
            </a:r>
            <a:r>
              <a:rPr lang="en-US" dirty="0"/>
              <a:t>), add collaborators, and generate token for remote access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Create issues for new features: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“Feature: wing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”Feature: fuselage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Open terminal and configure your identity: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config --global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“Albert HKUST”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config --global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user.email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alberthkust@gmail.com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Clone a GitHub repository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clone https://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alfiyandyhr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AircraftDesignProject.git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Check available branches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branch -a</a:t>
            </a:r>
            <a:endParaRPr lang="en-US" dirty="0"/>
          </a:p>
          <a:p>
            <a:pPr marL="342900" indent="-342900">
              <a:buFont typeface="+mj-lt"/>
              <a:buAutoNum type="arabicPeriod" startAt="6"/>
            </a:pPr>
            <a:r>
              <a:rPr lang="en-US" dirty="0" err="1"/>
              <a:t>Alfi</a:t>
            </a:r>
            <a:r>
              <a:rPr lang="en-US" dirty="0"/>
              <a:t> starts a specific mini-project: wing-</a:t>
            </a:r>
            <a:r>
              <a:rPr lang="en-US" dirty="0" err="1"/>
              <a:t>geom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–b wing-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en-US" dirty="0" err="1"/>
              <a:t>Alfi</a:t>
            </a:r>
            <a:r>
              <a:rPr lang="en-US" dirty="0"/>
              <a:t> starts working on that mini project: create, edit, or delete files </a:t>
            </a:r>
            <a:r>
              <a:rPr lang="en-US" dirty="0">
                <a:sym typeface="Wingdings" pitchFamily="2" charset="2"/>
              </a:rPr>
              <a:t> commit  push</a:t>
            </a: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status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create_wing.py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–m “added wing code”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 origin wing-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FC84D2C-0297-0C56-638D-345E85A8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Intro to GIT and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3D5E8A-DA9B-A27C-C79F-C4441A7C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</p:spTree>
    <p:extLst>
      <p:ext uri="{BB962C8B-B14F-4D97-AF65-F5344CB8AC3E}">
        <p14:creationId xmlns:p14="http://schemas.microsoft.com/office/powerpoint/2010/main" val="3835445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49ABD3-3D9D-4E4B-9460-DADA42C1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Workflows on command line (2/2)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E3A6185-E3B8-0F3A-A603-8FA022E842CB}"/>
              </a:ext>
            </a:extLst>
          </p:cNvPr>
          <p:cNvSpPr txBox="1">
            <a:spLocks/>
          </p:cNvSpPr>
          <p:nvPr/>
        </p:nvSpPr>
        <p:spPr>
          <a:xfrm>
            <a:off x="885159" y="1204332"/>
            <a:ext cx="10756713" cy="51520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8"/>
            </a:pPr>
            <a:r>
              <a:rPr lang="en-US" dirty="0"/>
              <a:t>Create a pull request </a:t>
            </a:r>
            <a:r>
              <a:rPr lang="en-US" dirty="0">
                <a:sym typeface="Wingdings" pitchFamily="2" charset="2"/>
              </a:rPr>
              <a:t> assign a reviewer (</a:t>
            </a:r>
            <a:r>
              <a:rPr lang="en-US" dirty="0" err="1">
                <a:sym typeface="Wingdings" pitchFamily="2" charset="2"/>
              </a:rPr>
              <a:t>Reyner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dirty="0">
                <a:sym typeface="Wingdings" pitchFamily="2" charset="2"/>
              </a:rPr>
              <a:t>Reviewer (</a:t>
            </a:r>
            <a:r>
              <a:rPr lang="en-US" dirty="0" err="1">
                <a:sym typeface="Wingdings" pitchFamily="2" charset="2"/>
              </a:rPr>
              <a:t>Reyner</a:t>
            </a:r>
            <a:r>
              <a:rPr lang="en-US" dirty="0">
                <a:sym typeface="Wingdings" pitchFamily="2" charset="2"/>
              </a:rPr>
              <a:t>) agrees  add which development to close  merge with the main branch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 startAt="10"/>
            </a:pPr>
            <a:r>
              <a:rPr lang="en-US" dirty="0" err="1"/>
              <a:t>Reyner</a:t>
            </a:r>
            <a:r>
              <a:rPr lang="en-US" dirty="0"/>
              <a:t> starts a specific mini-project: fuselage-</a:t>
            </a:r>
            <a:r>
              <a:rPr lang="en-US" dirty="0" err="1"/>
              <a:t>geom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–b fuselage-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 startAt="10"/>
            </a:pPr>
            <a:r>
              <a:rPr lang="en-US" dirty="0" err="1"/>
              <a:t>Reyner</a:t>
            </a:r>
            <a:r>
              <a:rPr lang="en-US" dirty="0"/>
              <a:t> starts working on that mini project: create, edit, or delete files </a:t>
            </a:r>
            <a:r>
              <a:rPr lang="en-US" dirty="0">
                <a:sym typeface="Wingdings" pitchFamily="2" charset="2"/>
              </a:rPr>
              <a:t> commit  push</a:t>
            </a: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status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create_fuselage.py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–m “added fuselage code”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 origin fuselage-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endParaRPr lang="en-US" dirty="0"/>
          </a:p>
          <a:p>
            <a:pPr marL="342900" indent="-342900">
              <a:buFont typeface="+mj-lt"/>
              <a:buAutoNum type="arabicPeriod" startAt="12"/>
            </a:pPr>
            <a:r>
              <a:rPr lang="en-US" dirty="0"/>
              <a:t>Create a pull request </a:t>
            </a:r>
            <a:r>
              <a:rPr lang="en-US" dirty="0">
                <a:sym typeface="Wingdings" pitchFamily="2" charset="2"/>
              </a:rPr>
              <a:t> assign a reviewer (</a:t>
            </a:r>
            <a:r>
              <a:rPr lang="en-US" dirty="0" err="1">
                <a:sym typeface="Wingdings" pitchFamily="2" charset="2"/>
              </a:rPr>
              <a:t>Alfi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US" dirty="0">
                <a:sym typeface="Wingdings" pitchFamily="2" charset="2"/>
              </a:rPr>
              <a:t>Reviewer (</a:t>
            </a:r>
            <a:r>
              <a:rPr lang="en-US" dirty="0" err="1">
                <a:sym typeface="Wingdings" pitchFamily="2" charset="2"/>
              </a:rPr>
              <a:t>Alfi</a:t>
            </a:r>
            <a:r>
              <a:rPr lang="en-US" dirty="0">
                <a:sym typeface="Wingdings" pitchFamily="2" charset="2"/>
              </a:rPr>
              <a:t>) agrees  add which development to close  merge with the main branch</a:t>
            </a:r>
            <a:endParaRPr lang="en-US" dirty="0"/>
          </a:p>
          <a:p>
            <a:pPr marL="342900" indent="-342900">
              <a:buFont typeface="+mj-lt"/>
              <a:buAutoNum type="arabicPeriod" startAt="12"/>
            </a:pPr>
            <a:r>
              <a:rPr lang="en-US" dirty="0" err="1"/>
              <a:t>Alfi</a:t>
            </a:r>
            <a:r>
              <a:rPr lang="en-US" dirty="0"/>
              <a:t> and </a:t>
            </a:r>
            <a:r>
              <a:rPr lang="en-US" dirty="0" err="1"/>
              <a:t>Reyner</a:t>
            </a:r>
            <a:r>
              <a:rPr lang="en-US" dirty="0"/>
              <a:t> pull the updated main branch and delete their old branches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branch –d fuselage-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99382DB-EF7A-0491-1EA0-1D2DD34B13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Intro to GIT and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D02519C-85E1-4DB2-F7FC-2B08DDC64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</p:spTree>
    <p:extLst>
      <p:ext uri="{BB962C8B-B14F-4D97-AF65-F5344CB8AC3E}">
        <p14:creationId xmlns:p14="http://schemas.microsoft.com/office/powerpoint/2010/main" val="4082890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11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49ABD3-3D9D-4E4B-9460-DADA42C1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Git commands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22ABD3-808C-0070-E552-4E84A095E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288" y="575949"/>
            <a:ext cx="4951141" cy="5706101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2C2AE5C-0015-B210-8C83-E58EA88488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Intro to GIT and </a:t>
            </a:r>
            <a:r>
              <a:rPr lang="en-US" dirty="0" err="1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916003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Walbaum Display_Aptos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8022F7FC-316B-4DD9-B9EB-BB68CC0DFA6F}" vid="{544DD2C6-9D23-4092-AACF-F55CEAA658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1541</TotalTime>
  <Words>1090</Words>
  <Application>Microsoft Macintosh PowerPoint</Application>
  <PresentationFormat>Widescreen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 Light</vt:lpstr>
      <vt:lpstr>Arial</vt:lpstr>
      <vt:lpstr>Courier New</vt:lpstr>
      <vt:lpstr>Walbaum Display</vt:lpstr>
      <vt:lpstr>Wingdings</vt:lpstr>
      <vt:lpstr>BohoVogueVTI</vt:lpstr>
      <vt:lpstr>Introduction to Git and GitHub</vt:lpstr>
      <vt:lpstr>What is versioning?</vt:lpstr>
      <vt:lpstr>What is Git and Github?</vt:lpstr>
      <vt:lpstr>How Git and Github work?</vt:lpstr>
      <vt:lpstr>Typical workflow</vt:lpstr>
      <vt:lpstr>Workflows on GitHub desktop (1/2)</vt:lpstr>
      <vt:lpstr>Workflows on GitHub desktop (2/2)</vt:lpstr>
      <vt:lpstr>Resolving a conflict</vt:lpstr>
      <vt:lpstr>Workflows on command line (1/2)</vt:lpstr>
      <vt:lpstr>Workflows on command line (2/2)</vt:lpstr>
      <vt:lpstr>Git commands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HARIANSYAH Muhammad Alfiyandy</dc:creator>
  <cp:lastModifiedBy>HARIANSYAH Muhammad Alfiyandy</cp:lastModifiedBy>
  <cp:revision>117</cp:revision>
  <dcterms:created xsi:type="dcterms:W3CDTF">2025-01-24T09:06:01Z</dcterms:created>
  <dcterms:modified xsi:type="dcterms:W3CDTF">2026-02-03T06:57:35Z</dcterms:modified>
</cp:coreProperties>
</file>