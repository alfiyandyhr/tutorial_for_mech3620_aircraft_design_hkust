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2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4"/>
    <p:restoredTop sz="94628"/>
  </p:normalViewPr>
  <p:slideViewPr>
    <p:cSldViewPr snapToGrid="0">
      <p:cViewPr varScale="1">
        <p:scale>
          <a:sx n="114" d="100"/>
          <a:sy n="114" d="100"/>
        </p:scale>
        <p:origin x="1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0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7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1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6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3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3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61" r:id="rId6"/>
    <p:sldLayoutId id="2147484056" r:id="rId7"/>
    <p:sldLayoutId id="2147484057" r:id="rId8"/>
    <p:sldLayoutId id="2147484058" r:id="rId9"/>
    <p:sldLayoutId id="2147484060" r:id="rId10"/>
    <p:sldLayoutId id="214748405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lialang.org/downloads/platfor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A1882-D684-E81F-5E0C-6648A8679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 dirty="0"/>
              <a:t>Introduction to Julia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A2BD7-5CC6-7203-D968-3B33F33E8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101046"/>
          </a:xfrm>
        </p:spPr>
        <p:txBody>
          <a:bodyPr anchor="t">
            <a:normAutofit/>
          </a:bodyPr>
          <a:lstStyle/>
          <a:p>
            <a:r>
              <a:rPr lang="en-US" dirty="0"/>
              <a:t>A Programming Language for Scientific Computing</a:t>
            </a:r>
          </a:p>
          <a:p>
            <a:r>
              <a:rPr lang="en-US" dirty="0"/>
              <a:t>BY </a:t>
            </a:r>
            <a:r>
              <a:rPr lang="en-US" dirty="0" err="1"/>
              <a:t>Alfi</a:t>
            </a:r>
            <a:r>
              <a:rPr lang="en-US" dirty="0"/>
              <a:t>, HKUST,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379D0-20B5-68C0-4D0F-9B5C9CBA8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28" y="591670"/>
            <a:ext cx="4170348" cy="2742004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0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Why Julia?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60" y="1118193"/>
            <a:ext cx="10442448" cy="39038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It’s fast, dynamic, reproducible, general, open-source </a:t>
            </a:r>
            <a:r>
              <a:rPr lang="en-US" dirty="0">
                <a:sym typeface="Wingdings" pitchFamily="2" charset="2"/>
              </a:rPr>
              <a:t> good for scientific computing.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Key Points</a:t>
            </a:r>
          </a:p>
          <a:p>
            <a:r>
              <a:rPr lang="en-US" dirty="0"/>
              <a:t>Most aerospace engineering students and instructors are familiar with MATLAB.</a:t>
            </a:r>
          </a:p>
          <a:p>
            <a:r>
              <a:rPr lang="en-US" dirty="0"/>
              <a:t>Its syntax is very similar to MATLAB, but faster and open-source.</a:t>
            </a:r>
          </a:p>
          <a:p>
            <a:r>
              <a:rPr lang="en-US" dirty="0"/>
              <a:t>It supports linear algebra, differential equations, and other science and engineering interests.</a:t>
            </a:r>
          </a:p>
          <a:p>
            <a:r>
              <a:rPr lang="en-US" dirty="0"/>
              <a:t>It has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Pluto.jl</a:t>
            </a:r>
            <a:r>
              <a:rPr lang="en-US" dirty="0"/>
              <a:t>, a nice notebook format for running experiments and giving instructive presentations. </a:t>
            </a:r>
          </a:p>
          <a:p>
            <a:r>
              <a:rPr lang="en-US" dirty="0"/>
              <a:t>Our in-house aircraft design and analysis framework (legacy) was written in Julia: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AeroFuse.jl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julia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C45E0D-AF28-278E-AC46-5905CA42C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429" y="4681691"/>
            <a:ext cx="4951141" cy="157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3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Julia installation (recommended)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julia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26AB82-52B2-9D90-216C-58A1A078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516" y="1865955"/>
            <a:ext cx="7772400" cy="1736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2C4494-07A4-21AC-8FF2-DD6A891A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69" y="4348448"/>
            <a:ext cx="9564294" cy="9920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488736-2025-1E26-68C7-1007B371DB23}"/>
              </a:ext>
            </a:extLst>
          </p:cNvPr>
          <p:cNvSpPr txBox="1"/>
          <p:nvPr/>
        </p:nvSpPr>
        <p:spPr>
          <a:xfrm>
            <a:off x="4852639" y="1354719"/>
            <a:ext cx="248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Linux and MacOS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F0D2A-B854-6ACF-3507-ED1B4670BE07}"/>
              </a:ext>
            </a:extLst>
          </p:cNvPr>
          <p:cNvSpPr txBox="1"/>
          <p:nvPr/>
        </p:nvSpPr>
        <p:spPr>
          <a:xfrm>
            <a:off x="4852639" y="3932028"/>
            <a:ext cx="248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Windows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B6AC8-A93D-AC69-C7D2-1E33B37ECB95}"/>
              </a:ext>
            </a:extLst>
          </p:cNvPr>
          <p:cNvSpPr txBox="1"/>
          <p:nvPr/>
        </p:nvSpPr>
        <p:spPr>
          <a:xfrm>
            <a:off x="2529555" y="5750492"/>
            <a:ext cx="7898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manual installation, please go to </a:t>
            </a:r>
            <a:r>
              <a:rPr lang="en-US" dirty="0">
                <a:hlinkClick r:id="rId4"/>
              </a:rPr>
              <a:t>https://julialang.org/downloads/platform/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200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Pluto.jl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installation (recommended)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julia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4AF21-055E-19B4-C7A0-111D0FB0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70" y="2031498"/>
            <a:ext cx="5961500" cy="2802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D24C1D-BA94-EB7B-37A9-0BBA99B3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2031498"/>
            <a:ext cx="5744025" cy="39626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945F5-F964-98E4-32A6-8B3B9940B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64" y="5183145"/>
            <a:ext cx="5389977" cy="810966"/>
          </a:xfrm>
          <a:ln w="6350">
            <a:solidFill>
              <a:schemeClr val="tx1"/>
            </a:solidFill>
            <a:prstDash val="dash"/>
          </a:ln>
        </p:spPr>
        <p:txBody>
          <a:bodyPr/>
          <a:lstStyle/>
          <a:p>
            <a:pPr marL="0" indent="0">
              <a:buNone/>
            </a:pPr>
            <a:r>
              <a:rPr lang="en-US" b="1" dirty="0"/>
              <a:t>Notes:</a:t>
            </a:r>
          </a:p>
          <a:p>
            <a:pPr marL="0" indent="0">
              <a:buNone/>
            </a:pPr>
            <a:r>
              <a:rPr lang="en-US" sz="1400" dirty="0"/>
              <a:t>It’s convenient to run Julia and Pluto in your desired working directory.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41B9E5-E0DA-D101-05EA-A6FCC495A04B}"/>
              </a:ext>
            </a:extLst>
          </p:cNvPr>
          <p:cNvSpPr txBox="1"/>
          <p:nvPr/>
        </p:nvSpPr>
        <p:spPr>
          <a:xfrm>
            <a:off x="304156" y="1480431"/>
            <a:ext cx="116640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A web-based interactive computing platform similar to </a:t>
            </a:r>
            <a:r>
              <a:rPr lang="en-US" sz="1600" dirty="0" err="1"/>
              <a:t>Jupyter</a:t>
            </a:r>
            <a:r>
              <a:rPr lang="en-US" sz="1600" dirty="0"/>
              <a:t> Notebook with Python (although Julia can also run on </a:t>
            </a:r>
            <a:r>
              <a:rPr lang="en-US" sz="1600" dirty="0" err="1"/>
              <a:t>Jupyter</a:t>
            </a:r>
            <a:r>
              <a:rPr lang="en-US" sz="1600" dirty="0"/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346334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Today’s key things to learn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699" y="1471498"/>
            <a:ext cx="7882362" cy="430798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How to navigate stuff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Pluto.jl</a:t>
            </a:r>
            <a:r>
              <a:rPr lang="en-US" sz="20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Variables and Printing</a:t>
            </a:r>
          </a:p>
          <a:p>
            <a:pPr lvl="1"/>
            <a:r>
              <a:rPr lang="en-US" sz="1800" dirty="0"/>
              <a:t>Integer, real, complex, strings, char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/>
              <a:t> vs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@show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Data structures</a:t>
            </a:r>
          </a:p>
          <a:p>
            <a:pPr lvl="1"/>
            <a:r>
              <a:rPr lang="en-US" sz="1800" dirty="0"/>
              <a:t>Arrays, tuples, dictionaries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Control flow</a:t>
            </a:r>
          </a:p>
          <a:p>
            <a:pPr lvl="1"/>
            <a:r>
              <a:rPr lang="en-US" sz="1800" dirty="0"/>
              <a:t>Loops, conditionals, functions, broadcasting, and additional tips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Linear algebra (</a:t>
            </a:r>
            <a:r>
              <a:rPr lang="en-US" sz="2000" b="1" dirty="0"/>
              <a:t>optional</a:t>
            </a:r>
            <a:r>
              <a:rPr lang="en-US" sz="2000" dirty="0"/>
              <a:t>)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LinearAlgebra.jl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/>
              <a:t>package, operations, eigen decompositions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julia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681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303</Words>
  <Application>Microsoft Macintosh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 Light</vt:lpstr>
      <vt:lpstr>Arial</vt:lpstr>
      <vt:lpstr>Courier New</vt:lpstr>
      <vt:lpstr>Walbaum Display</vt:lpstr>
      <vt:lpstr>Wingdings</vt:lpstr>
      <vt:lpstr>BohoVogueVTI</vt:lpstr>
      <vt:lpstr>Introduction to Julia</vt:lpstr>
      <vt:lpstr>Why Julia?</vt:lpstr>
      <vt:lpstr>Julia installation (recommended)</vt:lpstr>
      <vt:lpstr>Pluto.jl installation (recommended)</vt:lpstr>
      <vt:lpstr>Today’s key things to learn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HARIANSYAH Muhammad Alfiyandy</dc:creator>
  <cp:lastModifiedBy>HARIANSYAH Muhammad Alfiyandy</cp:lastModifiedBy>
  <cp:revision>22</cp:revision>
  <dcterms:created xsi:type="dcterms:W3CDTF">2025-01-24T09:06:01Z</dcterms:created>
  <dcterms:modified xsi:type="dcterms:W3CDTF">2026-02-03T07:04:21Z</dcterms:modified>
</cp:coreProperties>
</file>