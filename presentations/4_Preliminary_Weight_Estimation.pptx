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2" r:id="rId1"/>
  </p:sldMasterIdLst>
  <p:sldIdLst>
    <p:sldId id="256" r:id="rId2"/>
    <p:sldId id="258" r:id="rId3"/>
    <p:sldId id="259" r:id="rId4"/>
    <p:sldId id="264" r:id="rId5"/>
    <p:sldId id="262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5"/>
    <p:restoredTop sz="94628"/>
  </p:normalViewPr>
  <p:slideViewPr>
    <p:cSldViewPr snapToGrid="0">
      <p:cViewPr varScale="1">
        <p:scale>
          <a:sx n="114" d="100"/>
          <a:sy n="114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78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029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10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419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17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3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66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3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9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2/3/26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3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61" r:id="rId6"/>
    <p:sldLayoutId id="2147484056" r:id="rId7"/>
    <p:sldLayoutId id="2147484057" r:id="rId8"/>
    <p:sldLayoutId id="2147484058" r:id="rId9"/>
    <p:sldLayoutId id="2147484060" r:id="rId10"/>
    <p:sldLayoutId id="214748405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A1882-D684-E81F-5E0C-6648A8679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Preliminary Weight Estimation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A2BD7-5CC6-7203-D968-3B33F33E8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394505"/>
          </a:xfrm>
        </p:spPr>
        <p:txBody>
          <a:bodyPr anchor="t">
            <a:noAutofit/>
          </a:bodyPr>
          <a:lstStyle/>
          <a:p>
            <a:r>
              <a:rPr lang="en-US" sz="2000" dirty="0"/>
              <a:t>BY </a:t>
            </a:r>
            <a:r>
              <a:rPr lang="en-US" sz="2000" dirty="0" err="1"/>
              <a:t>Alfi</a:t>
            </a:r>
            <a:r>
              <a:rPr lang="en-US" sz="2000" dirty="0"/>
              <a:t>, HKUST, 2026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airplane, plane PNG">
            <a:extLst>
              <a:ext uri="{FF2B5EF4-FFF2-40B4-BE49-F238E27FC236}">
                <a16:creationId xmlns:a16="http://schemas.microsoft.com/office/drawing/2014/main" id="{C82C237F-2040-4EC3-BE69-E4AFFFC2A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826" y="784034"/>
            <a:ext cx="8755751" cy="26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000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How do you solve the following equation?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76" y="3080808"/>
            <a:ext cx="10442448" cy="27289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/>
              <a:t>Key Points</a:t>
            </a:r>
          </a:p>
          <a:p>
            <a:r>
              <a:rPr lang="en-US" sz="2600" dirty="0"/>
              <a:t>The solution cannot be obtained analytically </a:t>
            </a:r>
            <a:r>
              <a:rPr lang="en-US" sz="2600" dirty="0">
                <a:sym typeface="Wingdings" pitchFamily="2" charset="2"/>
              </a:rPr>
              <a:t> needs an iterative solver</a:t>
            </a:r>
            <a:endParaRPr lang="en-US" sz="2600" dirty="0"/>
          </a:p>
          <a:p>
            <a:r>
              <a:rPr lang="en-US" sz="2600" dirty="0"/>
              <a:t>Two approaches: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600" dirty="0"/>
              <a:t>Fixed-point iteration method</a:t>
            </a:r>
          </a:p>
          <a:p>
            <a:pPr marL="571500" lvl="1" indent="-342900">
              <a:buFont typeface="+mj-lt"/>
              <a:buAutoNum type="arabicPeriod"/>
            </a:pPr>
            <a:r>
              <a:rPr lang="en-US" sz="2600" dirty="0"/>
              <a:t>Bisection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8635-81EB-CAF4-8F05-3EAB53E2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Takeoff-Weight sizing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E3581-673D-27E3-7840-234E675594F5}"/>
                  </a:ext>
                </a:extLst>
              </p:cNvPr>
              <p:cNvSpPr txBox="1"/>
              <p:nvPr/>
            </p:nvSpPr>
            <p:spPr>
              <a:xfrm>
                <a:off x="3904374" y="1419741"/>
                <a:ext cx="4383251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10800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0.6227−0.93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−0.07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E3581-673D-27E3-7840-234E67559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4374" y="1419741"/>
                <a:ext cx="4383251" cy="925190"/>
              </a:xfrm>
              <a:prstGeom prst="rect">
                <a:avLst/>
              </a:prstGeom>
              <a:blipFill>
                <a:blip r:embed="rId2"/>
                <a:stretch>
                  <a:fillRect l="-867" t="-1351" r="-578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03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1. Fixed-point iteration method (recommended)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08A701-7D9A-7396-5465-18C1B609270B}"/>
                  </a:ext>
                </a:extLst>
              </p:cNvPr>
              <p:cNvSpPr txBox="1"/>
              <p:nvPr/>
            </p:nvSpPr>
            <p:spPr>
              <a:xfrm>
                <a:off x="1122135" y="1494205"/>
                <a:ext cx="4997778" cy="1008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10800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0.6227−0.93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−0.07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08A701-7D9A-7396-5465-18C1B6092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135" y="1494205"/>
                <a:ext cx="4997778" cy="1008353"/>
              </a:xfrm>
              <a:prstGeom prst="rect">
                <a:avLst/>
              </a:prstGeom>
              <a:blipFill>
                <a:blip r:embed="rId2"/>
                <a:stretch>
                  <a:fillRect l="-761" r="-508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E483966-8564-B6B9-D2CA-B828F91C91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057511"/>
                  </p:ext>
                </p:extLst>
              </p:nvPr>
            </p:nvGraphicFramePr>
            <p:xfrm>
              <a:off x="7270595" y="1575547"/>
              <a:ext cx="4527396" cy="42454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6819">
                      <a:extLst>
                        <a:ext uri="{9D8B030D-6E8A-4147-A177-3AD203B41FA5}">
                          <a16:colId xmlns:a16="http://schemas.microsoft.com/office/drawing/2014/main" val="1700567133"/>
                        </a:ext>
                      </a:extLst>
                    </a:gridCol>
                    <a:gridCol w="1229370">
                      <a:extLst>
                        <a:ext uri="{9D8B030D-6E8A-4147-A177-3AD203B41FA5}">
                          <a16:colId xmlns:a16="http://schemas.microsoft.com/office/drawing/2014/main" val="1833311331"/>
                        </a:ext>
                      </a:extLst>
                    </a:gridCol>
                    <a:gridCol w="1323939">
                      <a:extLst>
                        <a:ext uri="{9D8B030D-6E8A-4147-A177-3AD203B41FA5}">
                          <a16:colId xmlns:a16="http://schemas.microsoft.com/office/drawing/2014/main" val="27618238"/>
                        </a:ext>
                      </a:extLst>
                    </a:gridCol>
                    <a:gridCol w="1257268">
                      <a:extLst>
                        <a:ext uri="{9D8B030D-6E8A-4147-A177-3AD203B41FA5}">
                          <a16:colId xmlns:a16="http://schemas.microsoft.com/office/drawing/2014/main" val="3481639213"/>
                        </a:ext>
                      </a:extLst>
                    </a:gridCol>
                  </a:tblGrid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200" b="1" i="1" u="none" strike="noStrike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𝒂𝒃𝒔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𝒆𝒓𝒓𝒐𝒓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635360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50000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57868.1482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7868.14824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20649164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57868.1482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56523.9504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1344.19787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1592263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56523.9504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56734.9804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211.030067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85760257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56734.9804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56701.3919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33.588555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34108728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56701.3919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56706.7264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5.33450305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36712640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56706.7264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56705.8789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0.84751369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59082410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56705.8789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56706.0135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0.13464048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1521556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56706.0135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0.02138988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8532291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0.00339813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6016306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0.00053985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49259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E483966-8564-B6B9-D2CA-B828F91C91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057511"/>
                  </p:ext>
                </p:extLst>
              </p:nvPr>
            </p:nvGraphicFramePr>
            <p:xfrm>
              <a:off x="7270595" y="1575547"/>
              <a:ext cx="4527396" cy="42454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16819">
                      <a:extLst>
                        <a:ext uri="{9D8B030D-6E8A-4147-A177-3AD203B41FA5}">
                          <a16:colId xmlns:a16="http://schemas.microsoft.com/office/drawing/2014/main" val="1700567133"/>
                        </a:ext>
                      </a:extLst>
                    </a:gridCol>
                    <a:gridCol w="1229370">
                      <a:extLst>
                        <a:ext uri="{9D8B030D-6E8A-4147-A177-3AD203B41FA5}">
                          <a16:colId xmlns:a16="http://schemas.microsoft.com/office/drawing/2014/main" val="1833311331"/>
                        </a:ext>
                      </a:extLst>
                    </a:gridCol>
                    <a:gridCol w="1323939">
                      <a:extLst>
                        <a:ext uri="{9D8B030D-6E8A-4147-A177-3AD203B41FA5}">
                          <a16:colId xmlns:a16="http://schemas.microsoft.com/office/drawing/2014/main" val="27618238"/>
                        </a:ext>
                      </a:extLst>
                    </a:gridCol>
                    <a:gridCol w="1257268">
                      <a:extLst>
                        <a:ext uri="{9D8B030D-6E8A-4147-A177-3AD203B41FA5}">
                          <a16:colId xmlns:a16="http://schemas.microsoft.com/office/drawing/2014/main" val="3481639213"/>
                        </a:ext>
                      </a:extLst>
                    </a:gridCol>
                  </a:tblGrid>
                  <a:tr h="3859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754" t="-3333" r="-531579" b="-10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60417" t="-3333" r="-215625" b="-10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146667" t="-3333" r="-97143" b="-10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ctr">
                        <a:blipFill>
                          <a:blip r:embed="rId3"/>
                          <a:stretch>
                            <a:fillRect l="-261616" t="-3333" r="-3030" b="-10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35360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50000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57868.1482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7868.14824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2020649164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57868.1482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56523.9504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1344.19787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91592263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56523.9504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56734.9804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211.030067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4085760257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56734.9804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56701.3919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33.588555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34108728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56701.3919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56706.7264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5.33450305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1836712640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56706.7264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56705.8789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0.84751369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3159082410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56705.8789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56706.0135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0.13464048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915215569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56706.0135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0.02138988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8532291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8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56705.9921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0.00339813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526016306"/>
                      </a:ext>
                    </a:extLst>
                  </a:tr>
                  <a:tr h="385947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56705.9955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1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56705.9950</a:t>
                          </a:r>
                        </a:p>
                      </a:txBody>
                      <a:tcPr marL="9525" marR="9525" marT="9525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2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0.00053985</a:t>
                          </a:r>
                        </a:p>
                      </a:txBody>
                      <a:tcPr marL="9525" marR="9525" marT="9525" marB="0" anchor="ctr"/>
                    </a:tc>
                    <a:extLst>
                      <a:ext uri="{0D108BD9-81ED-4DB2-BD59-A6C34878D82A}">
                        <a16:rowId xmlns:a16="http://schemas.microsoft.com/office/drawing/2014/main" val="7492598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A3453D5-0A82-515B-24FF-A2E39C44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Takeoff-Weight sizing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623D6DD-F641-25A0-5C04-5100FF046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751" y="2959912"/>
                <a:ext cx="6507331" cy="29390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Steps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Write the fixed-point iteration equation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Take a good initial guess of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18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Iteratively 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800" dirty="0"/>
                  <a:t> and its absolute error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800" dirty="0"/>
                  <a:t>If the absolute error is less than tolerance, stop the iteration. Otherwise, go back to Step 2.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8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sz="1800" dirty="0"/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623D6DD-F641-25A0-5C04-5100FF046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751" y="2959912"/>
                <a:ext cx="6507331" cy="2939084"/>
              </a:xfrm>
              <a:blipFill>
                <a:blip r:embed="rId4"/>
                <a:stretch>
                  <a:fillRect l="-1949" t="-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0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9BB2-7CAD-C101-8CE0-486505CB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267079"/>
            <a:ext cx="10449784" cy="851114"/>
          </a:xfrm>
        </p:spPr>
        <p:txBody>
          <a:bodyPr/>
          <a:lstStyle/>
          <a:p>
            <a:r>
              <a:rPr lang="en-US" dirty="0"/>
              <a:t>2. Bisection method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08A701-7D9A-7396-5465-18C1B609270B}"/>
                  </a:ext>
                </a:extLst>
              </p:cNvPr>
              <p:cNvSpPr txBox="1"/>
              <p:nvPr/>
            </p:nvSpPr>
            <p:spPr>
              <a:xfrm>
                <a:off x="501398" y="5324129"/>
                <a:ext cx="3895362" cy="6360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10800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0.6227−0.93</m:t>
                          </m:r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−0.07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08A701-7D9A-7396-5465-18C1B6092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98" y="5324129"/>
                <a:ext cx="3895362" cy="636072"/>
              </a:xfrm>
              <a:prstGeom prst="rect">
                <a:avLst/>
              </a:prstGeom>
              <a:blipFill>
                <a:blip r:embed="rId2"/>
                <a:stretch>
                  <a:fillRect l="-1948" t="-1961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9A3453D5-0A82-515B-24FF-A2E39C44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Takeoff-Weight sizing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623D6DD-F641-25A0-5C04-5100FF046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398" y="1331846"/>
                <a:ext cx="4246797" cy="377863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sz="2800" b="1" dirty="0"/>
                  <a:t>Steps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dirty="0"/>
                  <a:t>Write the residual function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dirty="0"/>
                  <a:t>Take two values as bounds of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1900" dirty="0"/>
                  <a:t>: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1900" dirty="0"/>
                  <a:t> and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1900" dirty="0"/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b="1" dirty="0"/>
                  <a:t> </a:t>
                </a:r>
                <a:r>
                  <a:rPr lang="en-US" sz="1900" dirty="0"/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19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/>
                  <a:t> must have different signs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dirty="0"/>
                  <a:t>Calculate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1900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dirty="0"/>
                  <a:t>Update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1900" dirty="0"/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 b="0" i="0" smtClean="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m:rPr>
                        <m:sty m:val="p"/>
                      </m:rPr>
                      <a:rPr lang="en-US" sz="19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1900" b="0" i="0" smtClean="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1900" b="0" i="0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  <m:r>
                      <a:rPr lang="en-US" sz="1900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900" dirty="0"/>
                  <a:t> and update </a:t>
                </a:r>
                <a14:m>
                  <m:oMath xmlns:m="http://schemas.openxmlformats.org/officeDocument/2006/math">
                    <m:r>
                      <a:rPr lang="en-US" sz="19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1900" dirty="0"/>
                  <a:t>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SIGN</m:t>
                    </m:r>
                    <m:r>
                      <a:rPr lang="en-US" sz="1900">
                        <a:latin typeface="Cambria Math" panose="02040503050406030204" pitchFamily="18" charset="0"/>
                      </a:rPr>
                      <m:t>( </m:t>
                    </m:r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90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sz="1900"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190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  <m:r>
                      <a:rPr lang="en-US" sz="19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900" dirty="0"/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900" dirty="0"/>
                  <a:t>If the absolute residual is less than tolerance, stop the iteration. Otherwise, back to Step 3.</a:t>
                </a: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4623D6DD-F641-25A0-5C04-5100FF046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398" y="1331846"/>
                <a:ext cx="4246797" cy="3778630"/>
              </a:xfrm>
              <a:blipFill>
                <a:blip r:embed="rId3"/>
                <a:stretch>
                  <a:fillRect l="-2090" t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2AA7318-A97D-A013-5984-52977CCDF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901564"/>
                  </p:ext>
                </p:extLst>
              </p:nvPr>
            </p:nvGraphicFramePr>
            <p:xfrm>
              <a:off x="4989618" y="488849"/>
              <a:ext cx="6700984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93">
                      <a:extLst>
                        <a:ext uri="{9D8B030D-6E8A-4147-A177-3AD203B41FA5}">
                          <a16:colId xmlns:a16="http://schemas.microsoft.com/office/drawing/2014/main" val="3406110732"/>
                        </a:ext>
                      </a:extLst>
                    </a:gridCol>
                    <a:gridCol w="714225">
                      <a:extLst>
                        <a:ext uri="{9D8B030D-6E8A-4147-A177-3AD203B41FA5}">
                          <a16:colId xmlns:a16="http://schemas.microsoft.com/office/drawing/2014/main" val="3269488624"/>
                        </a:ext>
                      </a:extLst>
                    </a:gridCol>
                    <a:gridCol w="709878">
                      <a:extLst>
                        <a:ext uri="{9D8B030D-6E8A-4147-A177-3AD203B41FA5}">
                          <a16:colId xmlns:a16="http://schemas.microsoft.com/office/drawing/2014/main" val="263037061"/>
                        </a:ext>
                      </a:extLst>
                    </a:gridCol>
                    <a:gridCol w="758283">
                      <a:extLst>
                        <a:ext uri="{9D8B030D-6E8A-4147-A177-3AD203B41FA5}">
                          <a16:colId xmlns:a16="http://schemas.microsoft.com/office/drawing/2014/main" val="2846636750"/>
                        </a:ext>
                      </a:extLst>
                    </a:gridCol>
                    <a:gridCol w="702527">
                      <a:extLst>
                        <a:ext uri="{9D8B030D-6E8A-4147-A177-3AD203B41FA5}">
                          <a16:colId xmlns:a16="http://schemas.microsoft.com/office/drawing/2014/main" val="820566372"/>
                        </a:ext>
                      </a:extLst>
                    </a:gridCol>
                    <a:gridCol w="747132">
                      <a:extLst>
                        <a:ext uri="{9D8B030D-6E8A-4147-A177-3AD203B41FA5}">
                          <a16:colId xmlns:a16="http://schemas.microsoft.com/office/drawing/2014/main" val="3506555633"/>
                        </a:ext>
                      </a:extLst>
                    </a:gridCol>
                    <a:gridCol w="709554">
                      <a:extLst>
                        <a:ext uri="{9D8B030D-6E8A-4147-A177-3AD203B41FA5}">
                          <a16:colId xmlns:a16="http://schemas.microsoft.com/office/drawing/2014/main" val="1379559180"/>
                        </a:ext>
                      </a:extLst>
                    </a:gridCol>
                    <a:gridCol w="606289">
                      <a:extLst>
                        <a:ext uri="{9D8B030D-6E8A-4147-A177-3AD203B41FA5}">
                          <a16:colId xmlns:a16="http://schemas.microsoft.com/office/drawing/2014/main" val="3124626523"/>
                        </a:ext>
                      </a:extLst>
                    </a:gridCol>
                    <a:gridCol w="601800">
                      <a:extLst>
                        <a:ext uri="{9D8B030D-6E8A-4147-A177-3AD203B41FA5}">
                          <a16:colId xmlns:a16="http://schemas.microsoft.com/office/drawing/2014/main" val="3594161065"/>
                        </a:ext>
                      </a:extLst>
                    </a:gridCol>
                    <a:gridCol w="792103">
                      <a:extLst>
                        <a:ext uri="{9D8B030D-6E8A-4147-A177-3AD203B41FA5}">
                          <a16:colId xmlns:a16="http://schemas.microsoft.com/office/drawing/2014/main" val="2400894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  <m:r>
                                  <a:rPr lang="en-US" sz="12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2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𝑺𝑰𝑮𝑵</m:t>
                                </m:r>
                              </m:oMath>
                            </m:oMathPara>
                          </a14:m>
                          <a:endParaRPr lang="en-US" sz="1000" b="1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𝒇𝒂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𝒇𝒄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)</m:t>
                                </m:r>
                              </m:oMath>
                            </m:oMathPara>
                          </a14:m>
                          <a:endParaRPr lang="en-US" sz="1000" b="1" i="0" u="none" strike="noStrike" dirty="0">
                            <a:solidFill>
                              <a:schemeClr val="tx1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𝑺𝑰𝑮𝑵</m:t>
                                </m:r>
                              </m:oMath>
                            </m:oMathPara>
                          </a14:m>
                          <a:endParaRPr lang="en-US" sz="1000" b="1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lvl="0" indent="0" algn="ctr" defTabSz="914400" rtl="0" eaLnBrk="1" fontAlgn="ctr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 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𝒇𝒃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𝒇𝒄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)</m:t>
                                </m:r>
                              </m:oMath>
                            </m:oMathPara>
                          </a14:m>
                          <a:endParaRPr lang="en-US" sz="1000" b="1" u="none" strike="noStrike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𝒂𝒃𝒔</m:t>
                                </m:r>
                              </m:oMath>
                            </m:oMathPara>
                          </a14:m>
                          <a:endParaRPr lang="en-US" sz="1000" b="1" i="1" u="none" strike="no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𝒓𝒆𝒔𝒊𝒅𝒖𝒂𝒍</m:t>
                                </m:r>
                                <m:r>
                                  <a:rPr lang="en-US" sz="1000" b="1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Aptos Narrow" panose="020B0004020202020204" pitchFamily="34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066375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50000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-7868.148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60000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3797.168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132491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60000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3797.168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0335888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5724884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009299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001024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36033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56640.625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69487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56640.625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56679.687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90905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56679.687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511380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789567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24754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5632137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56705.322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6824415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56705.322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56705.932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-0.072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0.072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4945767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62AA7318-A97D-A013-5984-52977CCDF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901564"/>
                  </p:ext>
                </p:extLst>
              </p:nvPr>
            </p:nvGraphicFramePr>
            <p:xfrm>
              <a:off x="4989618" y="488849"/>
              <a:ext cx="6700984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193">
                      <a:extLst>
                        <a:ext uri="{9D8B030D-6E8A-4147-A177-3AD203B41FA5}">
                          <a16:colId xmlns:a16="http://schemas.microsoft.com/office/drawing/2014/main" val="3406110732"/>
                        </a:ext>
                      </a:extLst>
                    </a:gridCol>
                    <a:gridCol w="714225">
                      <a:extLst>
                        <a:ext uri="{9D8B030D-6E8A-4147-A177-3AD203B41FA5}">
                          <a16:colId xmlns:a16="http://schemas.microsoft.com/office/drawing/2014/main" val="3269488624"/>
                        </a:ext>
                      </a:extLst>
                    </a:gridCol>
                    <a:gridCol w="709878">
                      <a:extLst>
                        <a:ext uri="{9D8B030D-6E8A-4147-A177-3AD203B41FA5}">
                          <a16:colId xmlns:a16="http://schemas.microsoft.com/office/drawing/2014/main" val="263037061"/>
                        </a:ext>
                      </a:extLst>
                    </a:gridCol>
                    <a:gridCol w="758283">
                      <a:extLst>
                        <a:ext uri="{9D8B030D-6E8A-4147-A177-3AD203B41FA5}">
                          <a16:colId xmlns:a16="http://schemas.microsoft.com/office/drawing/2014/main" val="2846636750"/>
                        </a:ext>
                      </a:extLst>
                    </a:gridCol>
                    <a:gridCol w="702527">
                      <a:extLst>
                        <a:ext uri="{9D8B030D-6E8A-4147-A177-3AD203B41FA5}">
                          <a16:colId xmlns:a16="http://schemas.microsoft.com/office/drawing/2014/main" val="820566372"/>
                        </a:ext>
                      </a:extLst>
                    </a:gridCol>
                    <a:gridCol w="747132">
                      <a:extLst>
                        <a:ext uri="{9D8B030D-6E8A-4147-A177-3AD203B41FA5}">
                          <a16:colId xmlns:a16="http://schemas.microsoft.com/office/drawing/2014/main" val="3506555633"/>
                        </a:ext>
                      </a:extLst>
                    </a:gridCol>
                    <a:gridCol w="709554">
                      <a:extLst>
                        <a:ext uri="{9D8B030D-6E8A-4147-A177-3AD203B41FA5}">
                          <a16:colId xmlns:a16="http://schemas.microsoft.com/office/drawing/2014/main" val="1379559180"/>
                        </a:ext>
                      </a:extLst>
                    </a:gridCol>
                    <a:gridCol w="606289">
                      <a:extLst>
                        <a:ext uri="{9D8B030D-6E8A-4147-A177-3AD203B41FA5}">
                          <a16:colId xmlns:a16="http://schemas.microsoft.com/office/drawing/2014/main" val="3124626523"/>
                        </a:ext>
                      </a:extLst>
                    </a:gridCol>
                    <a:gridCol w="601800">
                      <a:extLst>
                        <a:ext uri="{9D8B030D-6E8A-4147-A177-3AD203B41FA5}">
                          <a16:colId xmlns:a16="http://schemas.microsoft.com/office/drawing/2014/main" val="3594161065"/>
                        </a:ext>
                      </a:extLst>
                    </a:gridCol>
                    <a:gridCol w="792103">
                      <a:extLst>
                        <a:ext uri="{9D8B030D-6E8A-4147-A177-3AD203B41FA5}">
                          <a16:colId xmlns:a16="http://schemas.microsoft.com/office/drawing/2014/main" val="24008948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t="-3448" r="-1796429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49123" t="-3448" r="-782456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151786" t="-3448" r="-696429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235000" t="-3448" r="-550000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365455" t="-3448" r="-500000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433898" t="-3448" r="-366102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562500" t="-3448" r="-285714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772917" t="-3448" r="-233333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891489" t="-3448" r="-138298" b="-14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317" marR="8317" marT="8317" marB="0" anchor="ctr">
                        <a:blipFill>
                          <a:blip r:embed="rId4"/>
                          <a:stretch>
                            <a:fillRect l="-739683" t="-3448" r="-3175" b="-14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6375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50000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-7868.148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60000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3797.168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1324917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60000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3797.168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0335888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55000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-1982.820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5724884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57500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918.933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0092995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4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56250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-528.844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0010244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56875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195.798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3603354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6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56562.5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-166.331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56640.625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6948756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56640.625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-75.763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56679.687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909059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8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56679.687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-30.488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5113802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9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56718.75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14.780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27895675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10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56699.218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-7.852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2475477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56708.984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3.464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35632137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12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56704.101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-2.194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56705.322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6824415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56705.322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-0.779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56706.543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0.634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b="1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56705.932</a:t>
                          </a:r>
                          <a:endParaRPr lang="en-US" sz="1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-0.072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1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-1</a:t>
                          </a:r>
                          <a:endParaRPr lang="en-US" sz="1000" b="0" i="0" u="none" strike="noStrike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000" u="none" strike="noStrike" dirty="0">
                              <a:effectLst/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0.072</a:t>
                          </a:r>
                          <a:endParaRPr lang="en-US" sz="1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ourier New" panose="02070309020205020404" pitchFamily="49" charset="0"/>
                            <a:cs typeface="Courier New" panose="02070309020205020404" pitchFamily="49" charset="0"/>
                          </a:endParaRPr>
                        </a:p>
                      </a:txBody>
                      <a:tcPr marL="8317" marR="8317" marT="8317" marB="0" anchor="ctr"/>
                    </a:tc>
                    <a:extLst>
                      <a:ext uri="{0D108BD9-81ED-4DB2-BD59-A6C34878D82A}">
                        <a16:rowId xmlns:a16="http://schemas.microsoft.com/office/drawing/2014/main" val="14945767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1532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D89BB2-7CAD-C101-8CE0-486505CBCD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77824" y="267079"/>
                <a:ext cx="10449784" cy="851114"/>
              </a:xfrm>
            </p:spPr>
            <p:txBody>
              <a:bodyPr/>
              <a:lstStyle/>
              <a:p>
                <a:r>
                  <a:rPr lang="en-US" dirty="0"/>
                  <a:t>Take-off weight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TO</m:t>
                        </m:r>
                      </m:sub>
                    </m:sSub>
                  </m:oMath>
                </a14:m>
                <a:r>
                  <a:rPr lang="en-US" dirty="0"/>
                  <a:t>) sizing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10D89BB2-7CAD-C101-8CE0-486505CBC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77824" y="267079"/>
                <a:ext cx="10449784" cy="851114"/>
              </a:xfrm>
              <a:blipFill>
                <a:blip r:embed="rId2"/>
                <a:stretch>
                  <a:fillRect l="-1458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F5A9C-5BC1-EE35-8D6B-E5F6B60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76" y="4329744"/>
            <a:ext cx="10442448" cy="188148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/>
              <a:t>Key Points</a:t>
            </a:r>
          </a:p>
          <a:p>
            <a:r>
              <a:rPr lang="en-US" sz="2600" dirty="0"/>
              <a:t>The take-off weight equation is </a:t>
            </a:r>
            <a:r>
              <a:rPr lang="en-US" sz="2600" b="1" dirty="0"/>
              <a:t>similar to the previous equation we solved!</a:t>
            </a:r>
            <a:endParaRPr lang="en-US" sz="2600" b="1" dirty="0">
              <a:sym typeface="Wingdings" pitchFamily="2" charset="2"/>
            </a:endParaRPr>
          </a:p>
          <a:p>
            <a:r>
              <a:rPr lang="en-US" sz="2600" dirty="0">
                <a:sym typeface="Wingdings" pitchFamily="2" charset="2"/>
              </a:rPr>
              <a:t>It can be solved iteratively!</a:t>
            </a:r>
            <a:endParaRPr lang="en-US" sz="2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E3581-673D-27E3-7840-234E675594F5}"/>
                  </a:ext>
                </a:extLst>
              </p:cNvPr>
              <p:cNvSpPr txBox="1"/>
              <p:nvPr/>
            </p:nvSpPr>
            <p:spPr>
              <a:xfrm>
                <a:off x="1441454" y="2877086"/>
                <a:ext cx="3599062" cy="11081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TO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crew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payload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fuel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TO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empty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TO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7E3581-673D-27E3-7840-234E67559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454" y="2877086"/>
                <a:ext cx="3599062" cy="1108188"/>
              </a:xfrm>
              <a:prstGeom prst="rect">
                <a:avLst/>
              </a:prstGeom>
              <a:blipFill>
                <a:blip r:embed="rId3"/>
                <a:stretch>
                  <a:fillRect l="-1056" r="-704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DDBD3A7-1006-AEA8-2477-3280C4E0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Takeoff-Weight sizing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F453A7-1EFE-99CD-22C6-CCA8ED72FCB8}"/>
                  </a:ext>
                </a:extLst>
              </p:cNvPr>
              <p:cNvSpPr txBox="1"/>
              <p:nvPr/>
            </p:nvSpPr>
            <p:spPr>
              <a:xfrm>
                <a:off x="3179398" y="1485558"/>
                <a:ext cx="6721840" cy="470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TO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crew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payload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fuel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empty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F453A7-1EFE-99CD-22C6-CCA8ED72F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398" y="1485558"/>
                <a:ext cx="6721840" cy="470513"/>
              </a:xfrm>
              <a:prstGeom prst="rect">
                <a:avLst/>
              </a:prstGeom>
              <a:blipFill>
                <a:blip r:embed="rId4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A22FC-59A6-F8F5-03FC-54DFE6F0AD32}"/>
                  </a:ext>
                </a:extLst>
              </p:cNvPr>
              <p:cNvSpPr txBox="1"/>
              <p:nvPr/>
            </p:nvSpPr>
            <p:spPr>
              <a:xfrm>
                <a:off x="5666802" y="3096067"/>
                <a:ext cx="3746810" cy="538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fuel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TO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typically constant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4A22FC-59A6-F8F5-03FC-54DFE6F0A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02" y="3096067"/>
                <a:ext cx="3746810" cy="5385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F3563C-CE42-3436-1D0C-C46BB48A150C}"/>
                  </a:ext>
                </a:extLst>
              </p:cNvPr>
              <p:cNvSpPr txBox="1"/>
              <p:nvPr/>
            </p:nvSpPr>
            <p:spPr>
              <a:xfrm>
                <a:off x="5666802" y="3822578"/>
                <a:ext cx="3746810" cy="665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empty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TO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1F3563C-CE42-3436-1D0C-C46BB48A1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02" y="3822578"/>
                <a:ext cx="3746810" cy="665503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Bent-Up Arrow 15">
            <a:extLst>
              <a:ext uri="{FF2B5EF4-FFF2-40B4-BE49-F238E27FC236}">
                <a16:creationId xmlns:a16="http://schemas.microsoft.com/office/drawing/2014/main" id="{E0AA2991-DD20-2C38-885A-A6FE374478A4}"/>
              </a:ext>
            </a:extLst>
          </p:cNvPr>
          <p:cNvSpPr/>
          <p:nvPr/>
        </p:nvSpPr>
        <p:spPr>
          <a:xfrm flipH="1" flipV="1">
            <a:off x="1404877" y="1645869"/>
            <a:ext cx="1651681" cy="1103829"/>
          </a:xfrm>
          <a:prstGeom prst="bentUpArrow">
            <a:avLst>
              <a:gd name="adj1" fmla="val 12537"/>
              <a:gd name="adj2" fmla="val 24049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64B8AF-CADD-3A28-D9F1-DF167886501D}"/>
                  </a:ext>
                </a:extLst>
              </p:cNvPr>
              <p:cNvSpPr txBox="1"/>
              <p:nvPr/>
            </p:nvSpPr>
            <p:spPr>
              <a:xfrm>
                <a:off x="5666802" y="2434703"/>
                <a:ext cx="3886199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crew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payload</m:t>
                        </m:r>
                      </m:sub>
                    </m:sSub>
                  </m:oMath>
                </a14:m>
                <a:r>
                  <a:rPr lang="en-US" dirty="0"/>
                  <a:t> are constants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564B8AF-CADD-3A28-D9F1-DF1678865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802" y="2434703"/>
                <a:ext cx="3886199" cy="391261"/>
              </a:xfrm>
              <a:prstGeom prst="rect">
                <a:avLst/>
              </a:prstGeom>
              <a:blipFill>
                <a:blip r:embed="rId7"/>
                <a:stretch>
                  <a:fillRect t="-625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00CCD23-937F-ADAB-D4BD-B1518E3A281D}"/>
              </a:ext>
            </a:extLst>
          </p:cNvPr>
          <p:cNvSpPr txBox="1"/>
          <p:nvPr/>
        </p:nvSpPr>
        <p:spPr>
          <a:xfrm>
            <a:off x="8761957" y="2462186"/>
            <a:ext cx="31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obtained from requirements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BB43E9-691E-EFFB-33D9-4108C0A83DC6}"/>
              </a:ext>
            </a:extLst>
          </p:cNvPr>
          <p:cNvSpPr txBox="1"/>
          <p:nvPr/>
        </p:nvSpPr>
        <p:spPr>
          <a:xfrm>
            <a:off x="8761956" y="3127663"/>
            <a:ext cx="31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from mission analyses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F8E85D-AEE6-7464-75CB-67F547111DF4}"/>
              </a:ext>
            </a:extLst>
          </p:cNvPr>
          <p:cNvSpPr txBox="1"/>
          <p:nvPr/>
        </p:nvSpPr>
        <p:spPr>
          <a:xfrm>
            <a:off x="8761955" y="3985291"/>
            <a:ext cx="3189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from Raymer, </a:t>
            </a:r>
            <a:r>
              <a:rPr lang="en-US" i="1" dirty="0"/>
              <a:t>Aircraft Design</a:t>
            </a:r>
          </a:p>
        </p:txBody>
      </p:sp>
    </p:spTree>
    <p:extLst>
      <p:ext uri="{BB962C8B-B14F-4D97-AF65-F5344CB8AC3E}">
        <p14:creationId xmlns:p14="http://schemas.microsoft.com/office/powerpoint/2010/main" val="26051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11" grpId="0"/>
      <p:bldP spid="12" grpId="0"/>
      <p:bldP spid="16" grpId="0" animBg="1"/>
      <p:bldP spid="18" grpId="0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EDC47-060B-78B9-71B3-F1EE07F6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8859" y="6356350"/>
            <a:ext cx="4951141" cy="365125"/>
          </a:xfrm>
        </p:spPr>
        <p:txBody>
          <a:bodyPr/>
          <a:lstStyle/>
          <a:p>
            <a:r>
              <a:rPr lang="en-US" dirty="0"/>
              <a:t>Tutorial for Mech 3620 (Aircraft design)-Spring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D0E4D-43DF-79C8-AD0B-BBC0B001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DDBD3A7-1006-AEA8-2477-3280C4E0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7824" y="6356350"/>
            <a:ext cx="2743200" cy="365125"/>
          </a:xfrm>
        </p:spPr>
        <p:txBody>
          <a:bodyPr/>
          <a:lstStyle/>
          <a:p>
            <a:r>
              <a:rPr lang="en-US" dirty="0"/>
              <a:t>Takeoff-Weight sizing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AC4856A-E040-1BAD-0A92-B53C01CB1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54" y="401289"/>
            <a:ext cx="9407292" cy="52916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54AE26-557E-4D02-AE4A-12296D1DB1BA}"/>
              </a:ext>
            </a:extLst>
          </p:cNvPr>
          <p:cNvSpPr txBox="1"/>
          <p:nvPr/>
        </p:nvSpPr>
        <p:spPr>
          <a:xfrm>
            <a:off x="877824" y="5933553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Source: Prof. </a:t>
            </a:r>
            <a:r>
              <a:rPr lang="en-US" sz="1800" dirty="0" err="1"/>
              <a:t>Zhenyu</a:t>
            </a:r>
            <a:r>
              <a:rPr lang="en-US" sz="1800" dirty="0"/>
              <a:t> Gao’s lecture 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41162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</TotalTime>
  <Words>588</Words>
  <Application>Microsoft Macintosh PowerPoint</Application>
  <PresentationFormat>Widescreen</PresentationFormat>
  <Paragraphs>249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 Light</vt:lpstr>
      <vt:lpstr>Aptos Narrow</vt:lpstr>
      <vt:lpstr>Arial</vt:lpstr>
      <vt:lpstr>Cambria Math</vt:lpstr>
      <vt:lpstr>Courier New</vt:lpstr>
      <vt:lpstr>Walbaum Display</vt:lpstr>
      <vt:lpstr>Wingdings</vt:lpstr>
      <vt:lpstr>BohoVogueVTI</vt:lpstr>
      <vt:lpstr>Preliminary Weight Estimation</vt:lpstr>
      <vt:lpstr>How do you solve the following equation?</vt:lpstr>
      <vt:lpstr>1. Fixed-point iteration method (recommended)</vt:lpstr>
      <vt:lpstr>2. Bisection method</vt:lpstr>
      <vt:lpstr>Take-off weight (W_TO) sizing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HARIANSYAH Muhammad Alfiyandy</dc:creator>
  <cp:lastModifiedBy>HARIANSYAH Muhammad Alfiyandy</cp:lastModifiedBy>
  <cp:revision>42</cp:revision>
  <dcterms:created xsi:type="dcterms:W3CDTF">2025-01-24T09:06:01Z</dcterms:created>
  <dcterms:modified xsi:type="dcterms:W3CDTF">2026-02-03T07:01:23Z</dcterms:modified>
</cp:coreProperties>
</file>